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jp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jpg"/><Relationship Id="rId4" Type="http://schemas.openxmlformats.org/officeDocument/2006/relationships/image" Target="../media/image9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ings-around-us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4160520"/>
            <a:ext cx="11460175" cy="2423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297680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D5A80"/>
                </a:solidFill>
                <a:latin typeface="Calibri"/>
              </a:rPr>
              <a:t>Everyday Objects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A9D8F"/>
                </a:solidFill>
                <a:latin typeface="Calibri"/>
              </a:rPr>
              <a:t>Sentence Flashcards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B6BB0"/>
                </a:solidFill>
                <a:latin typeface="Calibri"/>
              </a:rPr>
              <a:t>Beginner ESL · A1 · Ages 5–9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15 cards · For parents, teachers &amp; tutors</a:t>
            </a:r>
          </a:p>
        </p:txBody>
      </p:sp>
      <p:pic>
        <p:nvPicPr>
          <p:cNvPr id="9" name="Picture 8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e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0" y="228600"/>
            <a:ext cx="579089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92608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D5A80"/>
                </a:solidFill>
                <a:latin typeface="Calibri"/>
              </a:rPr>
              <a:t>How to use this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8580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9D8F"/>
                </a:solidFill>
                <a:latin typeface="Calibri"/>
              </a:rPr>
              <a:t>Teacher / Parent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1  Show and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Look at the picture. Read the sentence together. The child repeats.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542032"/>
            <a:ext cx="292608" cy="292608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2  Name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Point to the small pictures on the left and say each word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36976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566160"/>
            <a:ext cx="292608" cy="292608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3  Talk and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Use the notes, questions and mini activities on the right of many cards.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61104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4590288"/>
            <a:ext cx="292608" cy="292608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25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4  Worksheets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Worksheet 1: Circle &amp; Match. Worksheet 2: Find and Circle (all 15 objects).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285232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5614416"/>
            <a:ext cx="292608" cy="292608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498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5  Action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6 picture pairs (put on / take off ...). Act them out and say both sentences.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188720"/>
            <a:ext cx="5212080" cy="5212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118872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252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Word List (15)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1.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2. fridge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3. 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4.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5. soap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6. towel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7. mirror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8. 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9. scissors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10. crayon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11. sock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12. jacket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13. broom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14. plant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15. remote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Please open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window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ce7e944645f06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999839"/>
            <a:ext cx="5239512" cy="29472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892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9deb0de1da741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92931"/>
            <a:ext cx="2020824" cy="11367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5328" y="2342292"/>
            <a:ext cx="1044024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3b2a5136b5c9b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336" y="2406300"/>
            <a:ext cx="916008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8700" y="18393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" y="183937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07050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7050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curtain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365760"/>
            <a:ext cx="2651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45168" y="475488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640080"/>
            <a:ext cx="2395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Please </a:t>
            </a:r>
            <a:r>
              <a:rPr sz="1400" b="1">
                <a:solidFill>
                  <a:srgbClr val="2A9D8F"/>
                </a:solidFill>
                <a:latin typeface="Calibri"/>
              </a:rPr>
              <a:t>open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window.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005840"/>
            <a:ext cx="2395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Please </a:t>
            </a:r>
            <a:r>
              <a:rPr sz="1400" b="1">
                <a:solidFill>
                  <a:srgbClr val="2A9D8F"/>
                </a:solidFill>
                <a:latin typeface="Calibri"/>
              </a:rPr>
              <a:t>close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709160"/>
            <a:ext cx="2432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B6BB0"/>
                </a:solidFill>
                <a:latin typeface="Calibri"/>
              </a:rPr>
              <a:t>Is your window open or closed?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1481328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o2-glass-p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517904"/>
            <a:ext cx="1161288" cy="79552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634472" y="1769364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4472" y="1769364"/>
            <a:ext cx="941832" cy="292608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200" b="1">
                <a:solidFill>
                  <a:srgbClr val="3D5A80"/>
                </a:solidFill>
                <a:latin typeface="Calibri"/>
              </a:rPr>
              <a:t>glass pane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9448" y="25146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o2-glass-drin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551176"/>
            <a:ext cx="1161288" cy="7955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05922" y="2802636"/>
            <a:ext cx="5989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5922" y="2802636"/>
            <a:ext cx="598932" cy="292608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200" b="1">
                <a:solidFill>
                  <a:srgbClr val="3D5A80"/>
                </a:solidFill>
                <a:latin typeface="Calibri"/>
              </a:rPr>
              <a:t>glass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9448" y="3547872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eo2-glass-bott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3584448"/>
            <a:ext cx="1161288" cy="79552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565892" y="383590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5892" y="3835908"/>
            <a:ext cx="1078992" cy="292608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/>
            <a:r>
              <a:rPr sz="1200" b="1">
                <a:solidFill>
                  <a:srgbClr val="3D5A80"/>
                </a:solidFill>
                <a:latin typeface="Calibri"/>
              </a:rPr>
              <a:t>glass bottle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fridge</a:t>
            </a:r>
            <a:r>
              <a:rPr sz="3200" b="0">
                <a:solidFill>
                  <a:srgbClr val="3D5A80"/>
                </a:solidFill>
                <a:latin typeface="Calibri"/>
              </a:rPr>
              <a:t> keeps food cold.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e3c82991d8b5f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07131ede3a5aa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68403" y="2551176"/>
            <a:ext cx="817873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cff192b488baa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411" y="2615184"/>
            <a:ext cx="689857" cy="1554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418588" y="1161288"/>
            <a:ext cx="3024744" cy="527639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15900" y="1661495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986276" y="2322154"/>
            <a:ext cx="4508189" cy="107027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67033" y="229472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204825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04825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freezer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699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699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shelf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fridge is </a:t>
            </a:r>
            <a:r>
              <a:rPr sz="1500" b="1">
                <a:solidFill>
                  <a:srgbClr val="2A9D8F"/>
                </a:solidFill>
                <a:latin typeface="Calibri"/>
              </a:rPr>
              <a:t>cold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A freezer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freezing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8196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Is the fridge cold or hot?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368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do we put in the freezer?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talk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phone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53d27058a902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627195"/>
            <a:ext cx="2148840" cy="1068185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9492d3150656d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91203"/>
            <a:ext cx="2020824" cy="94016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" y="224402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2019c7bae43d2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308028"/>
            <a:ext cx="1554480" cy="1554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651760" y="1161287"/>
            <a:ext cx="2836755" cy="53040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61083" y="166426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418588" y="3085268"/>
            <a:ext cx="3623612" cy="7503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14768" y="313286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1741100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1741100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battery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97223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7223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charger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92608"/>
            <a:ext cx="26517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402336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58aead7104e25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530352"/>
            <a:ext cx="1165860" cy="658368"/>
          </a:xfrm>
          <a:prstGeom prst="rect">
            <a:avLst/>
          </a:prstGeom>
        </p:spPr>
      </p:pic>
      <p:pic>
        <p:nvPicPr>
          <p:cNvPr id="24" name="Picture 23" descr="fb64a7c03d6f356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1028" y="530352"/>
            <a:ext cx="1165860" cy="65836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443466" y="1197864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3466" y="1197864"/>
            <a:ext cx="822960" cy="201168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CB371"/>
                </a:solidFill>
                <a:latin typeface="Calibri"/>
              </a:rPr>
              <a:t>answer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59618" y="119786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9618" y="1197864"/>
            <a:ext cx="868680" cy="201168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5A5A"/>
                </a:solidFill>
                <a:latin typeface="Calibri"/>
              </a:rPr>
              <a:t>hang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1426464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A80"/>
                </a:solidFill>
                <a:latin typeface="Calibri"/>
              </a:rPr>
              <a:t>I </a:t>
            </a:r>
            <a:r>
              <a:rPr sz="1300" b="1">
                <a:solidFill>
                  <a:srgbClr val="2A9D8F"/>
                </a:solidFill>
                <a:latin typeface="Calibri"/>
              </a:rPr>
              <a:t>answer</a:t>
            </a:r>
            <a:r>
              <a:rPr sz="1100" b="0">
                <a:solidFill>
                  <a:srgbClr val="3D5A80"/>
                </a:solidFill>
                <a:latin typeface="Calibri"/>
              </a:rPr>
              <a:t> the phone.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1682496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A80"/>
                </a:solidFill>
                <a:latin typeface="Calibri"/>
              </a:rPr>
              <a:t>I </a:t>
            </a:r>
            <a:r>
              <a:rPr sz="1300" b="1">
                <a:solidFill>
                  <a:srgbClr val="2A9D8F"/>
                </a:solidFill>
                <a:latin typeface="Calibri"/>
              </a:rPr>
              <a:t>hang up</a:t>
            </a:r>
            <a:r>
              <a:rPr sz="1100" b="0">
                <a:solidFill>
                  <a:srgbClr val="3D5A80"/>
                </a:solidFill>
                <a:latin typeface="Calibri"/>
              </a:rPr>
              <a:t> the phone.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53728" y="2029968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76dbb9526408c8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2075688"/>
            <a:ext cx="1129284" cy="713232"/>
          </a:xfrm>
          <a:prstGeom prst="rect">
            <a:avLst/>
          </a:prstGeom>
        </p:spPr>
      </p:pic>
      <p:pic>
        <p:nvPicPr>
          <p:cNvPr id="33" name="Picture 32" descr="11698a8d02278e9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7604" y="2075688"/>
            <a:ext cx="1129284" cy="7132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72016" y="2779776"/>
            <a:ext cx="2432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Connect your charger.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2980944"/>
            <a:ext cx="243230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3D5A80"/>
                </a:solidFill>
                <a:latin typeface="Calibri"/>
              </a:rPr>
              <a:t>Your phone is </a:t>
            </a:r>
            <a:r>
              <a:rPr sz="1100" b="1">
                <a:solidFill>
                  <a:srgbClr val="C98A1A"/>
                </a:solidFill>
                <a:latin typeface="Calibri"/>
              </a:rPr>
              <a:t>connected</a:t>
            </a:r>
            <a:r>
              <a:rPr sz="11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2" y="3483864"/>
            <a:ext cx="254203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8fb875575454ee6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2016" y="3538728"/>
            <a:ext cx="2432304" cy="12344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53728" y="4809744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Your phone is </a:t>
            </a:r>
            <a:r>
              <a:rPr sz="1300" b="1">
                <a:solidFill>
                  <a:srgbClr val="2A9D8F"/>
                </a:solidFill>
                <a:latin typeface="Calibri"/>
              </a:rPr>
              <a:t>charging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This </a:t>
            </a:r>
            <a:r>
              <a:rPr sz="3700" b="1">
                <a:solidFill>
                  <a:srgbClr val="2A9D8F"/>
                </a:solidFill>
                <a:latin typeface="Calibri"/>
              </a:rPr>
              <a:t>key</a:t>
            </a:r>
            <a:r>
              <a:rPr sz="3200" b="0">
                <a:solidFill>
                  <a:srgbClr val="3D5A80"/>
                </a:solidFill>
                <a:latin typeface="Calibri"/>
              </a:rPr>
              <a:t> opens the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6898900bc6591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5071" y="528923"/>
            <a:ext cx="1244538" cy="168249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24c60c7e7f9d5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79" y="592931"/>
            <a:ext cx="1116522" cy="1554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2760059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7e565cb2b99ad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24067"/>
            <a:ext cx="2020824" cy="1136713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 flipV="1">
            <a:off x="2651760" y="2617560"/>
            <a:ext cx="4366810" cy="77486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991138" y="259012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700" y="2257139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2257139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40705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" y="4070508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teeth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502920"/>
            <a:ext cx="2651760" cy="31478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8138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lock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door with my key.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316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unlock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door with my key.</a:t>
            </a:r>
          </a:p>
        </p:txBody>
      </p:sp>
      <p:pic>
        <p:nvPicPr>
          <p:cNvPr id="23" name="Picture 22" descr="1a9dffab518a37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819656"/>
            <a:ext cx="2377440" cy="13373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564624" y="319354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3193542"/>
            <a:ext cx="658368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53344" y="319354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53344" y="3193542"/>
            <a:ext cx="658368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unlocked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wash my hands with </a:t>
            </a:r>
            <a:r>
              <a:rPr sz="3700" b="1">
                <a:solidFill>
                  <a:srgbClr val="2A9D8F"/>
                </a:solidFill>
                <a:latin typeface="Calibri"/>
              </a:rPr>
              <a:t>soap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8eefb467cc7ab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" y="320040"/>
            <a:ext cx="1682496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61851b7d4537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4048"/>
            <a:ext cx="1554480" cy="1554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7344" y="2551176"/>
            <a:ext cx="1459992" cy="1682496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87ac4f85fe9c16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352" y="2615184"/>
            <a:ext cx="1331976" cy="1554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418588" y="1161288"/>
            <a:ext cx="2424432" cy="37905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15588" y="151290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307336" y="2472973"/>
            <a:ext cx="3707262" cy="91945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7166" y="2445541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204825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04825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bubbles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42793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27939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411480"/>
            <a:ext cx="265176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53035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704088"/>
            <a:ext cx="822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a </a:t>
            </a:r>
            <a:r>
              <a:rPr sz="1200" b="1">
                <a:solidFill>
                  <a:srgbClr val="2A9D8F"/>
                </a:solidFill>
                <a:latin typeface="Calibri"/>
              </a:rPr>
              <a:t>bar</a:t>
            </a:r>
            <a:r>
              <a:rPr sz="1000" b="0">
                <a:solidFill>
                  <a:srgbClr val="3D5A80"/>
                </a:solidFill>
                <a:latin typeface="Calibri"/>
              </a:rPr>
              <a:t>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932688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7B4A2A"/>
                </a:solidFill>
                <a:latin typeface="Calibri"/>
              </a:rPr>
              <a:t>chocolate</a:t>
            </a:r>
          </a:p>
        </p:txBody>
      </p:sp>
      <p:pic>
        <p:nvPicPr>
          <p:cNvPr id="25" name="Picture 24" descr="3cefe78da6fc8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1234440"/>
            <a:ext cx="749808" cy="658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76688" y="704088"/>
            <a:ext cx="822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a </a:t>
            </a:r>
            <a:r>
              <a:rPr sz="1200" b="1">
                <a:solidFill>
                  <a:srgbClr val="2A9D8F"/>
                </a:solidFill>
                <a:latin typeface="Calibri"/>
              </a:rPr>
              <a:t>bar</a:t>
            </a:r>
            <a:r>
              <a:rPr sz="1000" b="0">
                <a:solidFill>
                  <a:srgbClr val="3D5A80"/>
                </a:solidFill>
                <a:latin typeface="Calibri"/>
              </a:rPr>
              <a:t> 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932688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C98A1A"/>
                </a:solidFill>
                <a:latin typeface="Calibri"/>
              </a:rPr>
              <a:t>gold</a:t>
            </a:r>
          </a:p>
        </p:txBody>
      </p:sp>
      <p:pic>
        <p:nvPicPr>
          <p:cNvPr id="28" name="Picture 27" descr="ea7f928258da16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1234440"/>
            <a:ext cx="749808" cy="6583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899648" y="704088"/>
            <a:ext cx="822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a </a:t>
            </a:r>
            <a:r>
              <a:rPr sz="1200" b="1">
                <a:solidFill>
                  <a:srgbClr val="2A9D8F"/>
                </a:solidFill>
                <a:latin typeface="Calibri"/>
              </a:rPr>
              <a:t>bar</a:t>
            </a:r>
            <a:r>
              <a:rPr sz="1000" b="0">
                <a:solidFill>
                  <a:srgbClr val="3D5A80"/>
                </a:solidFill>
                <a:latin typeface="Calibri"/>
              </a:rPr>
              <a:t>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99648" y="932688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soap</a:t>
            </a:r>
          </a:p>
        </p:txBody>
      </p:sp>
      <p:pic>
        <p:nvPicPr>
          <p:cNvPr id="31" name="Picture 30" descr="bc4934b2c0bbf4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6224" y="1234440"/>
            <a:ext cx="749808" cy="65836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436608" y="1984248"/>
            <a:ext cx="2103120" cy="18288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9209a8a8de0e958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016" y="2103120"/>
            <a:ext cx="2432304" cy="1371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53728" y="35112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soap + water = bubbles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dry my hands with a </a:t>
            </a:r>
            <a:r>
              <a:rPr sz="3700" b="1">
                <a:solidFill>
                  <a:srgbClr val="2A9D8F"/>
                </a:solidFill>
                <a:latin typeface="Calibri"/>
              </a:rPr>
              <a:t>towel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1fa3cb4a6b99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7472" y="292608"/>
            <a:ext cx="2514600" cy="3246120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ffe155bf89497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6616"/>
            <a:ext cx="2386584" cy="3118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" y="36118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He is </a:t>
            </a:r>
            <a:r>
              <a:rPr sz="1400" b="1">
                <a:solidFill>
                  <a:srgbClr val="2A9D8F"/>
                </a:solidFill>
                <a:latin typeface="Calibri"/>
              </a:rPr>
              <a:t>wet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90448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towel is </a:t>
            </a:r>
            <a:r>
              <a:rPr sz="1400" b="1">
                <a:solidFill>
                  <a:srgbClr val="2A9D8F"/>
                </a:solidFill>
                <a:latin typeface="Calibri"/>
              </a:rPr>
              <a:t>dry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0868" y="292608"/>
            <a:ext cx="2514600" cy="3246120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10c0fb2b9c681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4876" y="356616"/>
            <a:ext cx="2386584" cy="3118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30868" y="36118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He is </a:t>
            </a:r>
            <a:r>
              <a:rPr sz="1400" b="1">
                <a:solidFill>
                  <a:srgbClr val="2A9D8F"/>
                </a:solidFill>
                <a:latin typeface="Calibri"/>
              </a:rPr>
              <a:t>dry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0868" y="390448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towel is </a:t>
            </a:r>
            <a:r>
              <a:rPr sz="1400" b="1">
                <a:solidFill>
                  <a:srgbClr val="2A9D8F"/>
                </a:solidFill>
                <a:latin typeface="Calibri"/>
              </a:rPr>
              <a:t>wet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look in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mirror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e32cbe41079d7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999839"/>
            <a:ext cx="5239512" cy="29472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5227" y="451199"/>
            <a:ext cx="1744226" cy="1527048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52d9967b57324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5" y="515207"/>
            <a:ext cx="1616210" cy="13990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2526887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9dffd23d6c8ca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90895"/>
            <a:ext cx="2020824" cy="1136713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449453" y="1214723"/>
            <a:ext cx="2327810" cy="68295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49831" y="187024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" y="2023967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" y="2023967"/>
            <a:ext cx="164592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" y="3837336"/>
            <a:ext cx="237744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" y="3855624"/>
            <a:ext cx="2377440" cy="621792"/>
          </a:xfrm>
          <a:prstGeom prst="rect">
            <a:avLst/>
          </a:prstGeom>
          <a:noFill/>
        </p:spPr>
        <p:txBody>
          <a:bodyPr wrap="square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D5A80"/>
                </a:solidFill>
                <a:latin typeface="Calibri"/>
              </a:rPr>
              <a:t>pond</a:t>
            </a:r>
          </a:p>
          <a:p>
            <a:pPr algn="ctr"/>
            <a:r>
              <a:rPr sz="1150" b="1">
                <a:solidFill>
                  <a:srgbClr val="7B6BB0"/>
                </a:solidFill>
                <a:latin typeface="Calibri"/>
              </a:rPr>
              <a:t>reflective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36576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5168" y="48463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60564f3ab2412c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640080"/>
            <a:ext cx="2377440" cy="1691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53728" y="2359152"/>
            <a:ext cx="24688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brush my teeth</a:t>
            </a:r>
          </a:p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in the mirror.</a:t>
            </a:r>
          </a:p>
        </p:txBody>
      </p:sp>
      <p:pic>
        <p:nvPicPr>
          <p:cNvPr id="23" name="Picture 22" descr="1cd6e9209aa6ab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2971800"/>
            <a:ext cx="2377440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53728" y="4690872"/>
            <a:ext cx="24688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comb my hair</a:t>
            </a:r>
          </a:p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in the mirror.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My food is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plate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f4bc896cb78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01168" y="960120"/>
            <a:ext cx="2898648" cy="1922330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c40d242d8977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1024128"/>
            <a:ext cx="2770632" cy="17943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1850" y="3111050"/>
            <a:ext cx="621792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076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" y="3111050"/>
            <a:ext cx="621792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E0765A"/>
                </a:solidFill>
                <a:latin typeface="Calibri"/>
              </a:rPr>
              <a:t>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81658" y="3111050"/>
            <a:ext cx="621792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7B6B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1658" y="3111050"/>
            <a:ext cx="621792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knife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1466" y="3111050"/>
            <a:ext cx="537667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1466" y="3111050"/>
            <a:ext cx="537667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2A9D8F"/>
                </a:solidFill>
                <a:latin typeface="Calibri"/>
              </a:rPr>
              <a:t>fork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" y="3513386"/>
            <a:ext cx="621792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3D5A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" y="3513386"/>
            <a:ext cx="621792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3D5A80"/>
                </a:solidFill>
                <a:latin typeface="Calibri"/>
              </a:rPr>
              <a:t>glass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4188" y="3513386"/>
            <a:ext cx="1042415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98A1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4188" y="3513386"/>
            <a:ext cx="1042415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C98A1A"/>
                </a:solidFill>
                <a:latin typeface="Calibri"/>
              </a:rPr>
              <a:t>chopsticks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36576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48463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594360"/>
            <a:ext cx="23774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Mini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868680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6B7A8A"/>
                </a:solidFill>
                <a:latin typeface="Calibri"/>
              </a:rPr>
              <a:t>Draw a line.</a:t>
            </a:r>
          </a:p>
        </p:txBody>
      </p:sp>
      <p:pic>
        <p:nvPicPr>
          <p:cNvPr id="25" name="Picture 24" descr="6815764ddbecd9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1234440"/>
            <a:ext cx="868680" cy="7498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26296" y="1993392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bowl</a:t>
            </a:r>
          </a:p>
        </p:txBody>
      </p:sp>
      <p:sp>
        <p:nvSpPr>
          <p:cNvPr id="27" name="Oval 26"/>
          <p:cNvSpPr/>
          <p:nvPr/>
        </p:nvSpPr>
        <p:spPr>
          <a:xfrm>
            <a:off x="10200132" y="1549908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e4fb05ccd36e47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532888"/>
            <a:ext cx="868680" cy="7498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26296" y="3291840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glass</a:t>
            </a:r>
          </a:p>
        </p:txBody>
      </p:sp>
      <p:sp>
        <p:nvSpPr>
          <p:cNvPr id="30" name="Oval 29"/>
          <p:cNvSpPr/>
          <p:nvPr/>
        </p:nvSpPr>
        <p:spPr>
          <a:xfrm>
            <a:off x="10200132" y="2848356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54f4cbcf163fdb2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016" y="3831336"/>
            <a:ext cx="868680" cy="7498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26296" y="4590288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plate</a:t>
            </a:r>
          </a:p>
        </p:txBody>
      </p:sp>
      <p:sp>
        <p:nvSpPr>
          <p:cNvPr id="33" name="Oval 32"/>
          <p:cNvSpPr/>
          <p:nvPr/>
        </p:nvSpPr>
        <p:spPr>
          <a:xfrm>
            <a:off x="10200132" y="4146804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62482f34dd446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1234440"/>
            <a:ext cx="868680" cy="7498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789920" y="1993392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bread</a:t>
            </a:r>
          </a:p>
        </p:txBody>
      </p:sp>
      <p:sp>
        <p:nvSpPr>
          <p:cNvPr id="36" name="Oval 35"/>
          <p:cNvSpPr/>
          <p:nvPr/>
        </p:nvSpPr>
        <p:spPr>
          <a:xfrm>
            <a:off x="10657332" y="1549908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70a75a5b2ab863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640" y="2532888"/>
            <a:ext cx="868680" cy="7498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89920" y="3291840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soup</a:t>
            </a:r>
          </a:p>
        </p:txBody>
      </p:sp>
      <p:sp>
        <p:nvSpPr>
          <p:cNvPr id="39" name="Oval 38"/>
          <p:cNvSpPr/>
          <p:nvPr/>
        </p:nvSpPr>
        <p:spPr>
          <a:xfrm>
            <a:off x="10657332" y="2848356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9001ad582112f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5640" y="3831336"/>
            <a:ext cx="868680" cy="7498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0" y="4590288"/>
            <a:ext cx="96012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3D5A80"/>
                </a:solidFill>
                <a:latin typeface="Calibri"/>
              </a:rPr>
              <a:t>juice</a:t>
            </a:r>
          </a:p>
        </p:txBody>
      </p:sp>
      <p:sp>
        <p:nvSpPr>
          <p:cNvPr id="42" name="Oval 41"/>
          <p:cNvSpPr/>
          <p:nvPr/>
        </p:nvSpPr>
        <p:spPr>
          <a:xfrm>
            <a:off x="10657332" y="4146804"/>
            <a:ext cx="118872" cy="118872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cut paper with </a:t>
            </a:r>
            <a:r>
              <a:rPr sz="3700" b="1">
                <a:solidFill>
                  <a:srgbClr val="2A9D8F"/>
                </a:solidFill>
                <a:latin typeface="Calibri"/>
              </a:rPr>
              <a:t>scissors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6bd97544d886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1752" y="256032"/>
            <a:ext cx="2606040" cy="4343400"/>
          </a:xfrm>
          <a:prstGeom prst="roundRect">
            <a:avLst>
              <a:gd name="adj" fmla="val 84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320040"/>
            <a:ext cx="2478024" cy="4215384"/>
          </a:xfrm>
          <a:prstGeom prst="roundRect">
            <a:avLst>
              <a:gd name="adj" fmla="val 77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9717b7a44caa8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93192"/>
            <a:ext cx="2331720" cy="1234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352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4128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1016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4792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58568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5456" y="1737360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1847088"/>
            <a:ext cx="2514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0">
                <a:solidFill>
                  <a:srgbClr val="3D5A80"/>
                </a:solidFill>
                <a:latin typeface="Calibri"/>
              </a:rPr>
              <a:t>a </a:t>
            </a:r>
            <a:r>
              <a:rPr sz="2400" b="1">
                <a:solidFill>
                  <a:srgbClr val="2A9D8F"/>
                </a:solidFill>
                <a:latin typeface="Calibri"/>
              </a:rPr>
              <a:t>pair</a:t>
            </a:r>
            <a:r>
              <a:rPr sz="2000" b="0">
                <a:solidFill>
                  <a:srgbClr val="3D5A80"/>
                </a:solidFill>
                <a:latin typeface="Calibri"/>
              </a:rPr>
              <a:t> of scissors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128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1016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17904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64792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0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58568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5456" y="2395728"/>
            <a:ext cx="137160" cy="27432"/>
          </a:xfrm>
          <a:prstGeom prst="rect">
            <a:avLst/>
          </a:prstGeom>
          <a:solidFill>
            <a:srgbClr val="B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55eb602eba8fe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560320"/>
            <a:ext cx="2331720" cy="17830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162288" y="320040"/>
            <a:ext cx="2651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45168" y="43891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3728" y="54864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What do we do with scissors?</a:t>
            </a:r>
          </a:p>
        </p:txBody>
      </p:sp>
      <p:pic>
        <p:nvPicPr>
          <p:cNvPr id="35" name="Picture 34" descr="e2b36de207cf2c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877824"/>
            <a:ext cx="2377440" cy="1371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53728" y="2276856"/>
            <a:ext cx="2468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We </a:t>
            </a:r>
            <a:r>
              <a:rPr sz="1400" b="1">
                <a:solidFill>
                  <a:srgbClr val="3CB371"/>
                </a:solidFill>
                <a:latin typeface="Calibri"/>
              </a:rPr>
              <a:t>cut</a:t>
            </a:r>
            <a:r>
              <a:rPr sz="1200" b="0">
                <a:solidFill>
                  <a:srgbClr val="3D5A80"/>
                </a:solidFill>
                <a:latin typeface="Calibri"/>
              </a:rPr>
              <a:t> with scissors.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2660904"/>
            <a:ext cx="2468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What do we </a:t>
            </a:r>
            <a:r>
              <a:rPr sz="1600" b="1">
                <a:solidFill>
                  <a:srgbClr val="D92B2B"/>
                </a:solidFill>
                <a:latin typeface="Calibri"/>
              </a:rPr>
              <a:t>not</a:t>
            </a:r>
            <a:r>
              <a:rPr sz="1200" b="1">
                <a:solidFill>
                  <a:srgbClr val="7B6BB0"/>
                </a:solidFill>
                <a:latin typeface="Calibri"/>
              </a:rPr>
              <a:t> do with scissors?</a:t>
            </a:r>
          </a:p>
        </p:txBody>
      </p:sp>
      <p:pic>
        <p:nvPicPr>
          <p:cNvPr id="38" name="Picture 37" descr="520931b61e1ed7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3026664"/>
            <a:ext cx="2377440" cy="1371600"/>
          </a:xfrm>
          <a:prstGeom prst="rect">
            <a:avLst/>
          </a:prstGeom>
        </p:spPr>
      </p:pic>
      <p:sp>
        <p:nvSpPr>
          <p:cNvPr id="39" name="&quot;No&quot; Symbol 38"/>
          <p:cNvSpPr/>
          <p:nvPr/>
        </p:nvSpPr>
        <p:spPr>
          <a:xfrm>
            <a:off x="9893808" y="3118104"/>
            <a:ext cx="1188720" cy="1188720"/>
          </a:xfrm>
          <a:prstGeom prst="noSmoking">
            <a:avLst>
              <a:gd name="adj" fmla="val 12000"/>
            </a:avLst>
          </a:prstGeom>
          <a:solidFill>
            <a:srgbClr val="D92B2B">
              <a:alpha val="88000"/>
            </a:srgbClr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4425696"/>
            <a:ext cx="25603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We </a:t>
            </a:r>
            <a:r>
              <a:rPr sz="1500" b="1">
                <a:solidFill>
                  <a:srgbClr val="D92B2B"/>
                </a:solidFill>
                <a:latin typeface="Calibri"/>
              </a:rPr>
              <a:t>do not</a:t>
            </a:r>
            <a:r>
              <a:rPr sz="1200" b="0">
                <a:solidFill>
                  <a:srgbClr val="3D5A80"/>
                </a:solidFill>
                <a:latin typeface="Calibri"/>
              </a:rPr>
              <a:t> run with scissors.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colour with the red </a:t>
            </a:r>
            <a:r>
              <a:rPr sz="3700" b="1">
                <a:solidFill>
                  <a:srgbClr val="2A9D8F"/>
                </a:solidFill>
                <a:latin typeface="Calibri"/>
              </a:rPr>
              <a:t>crayon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d4268dfbe257a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999839"/>
            <a:ext cx="5239512" cy="29472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8600" y="292608"/>
            <a:ext cx="2697480" cy="4023360"/>
          </a:xfrm>
          <a:prstGeom prst="roundRect">
            <a:avLst>
              <a:gd name="adj" fmla="val 84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" y="356616"/>
            <a:ext cx="2569464" cy="3895344"/>
          </a:xfrm>
          <a:prstGeom prst="roundRect">
            <a:avLst>
              <a:gd name="adj" fmla="val 77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438912"/>
            <a:ext cx="2697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3D5A80"/>
                </a:solidFill>
                <a:latin typeface="Calibri"/>
              </a:rPr>
              <a:t>Color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859536"/>
            <a:ext cx="1156716" cy="292608"/>
          </a:xfrm>
          <a:prstGeom prst="roundRect">
            <a:avLst>
              <a:gd name="adj" fmla="val 30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2115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D3B7A"/>
                </a:solidFill>
                <a:latin typeface="Calibri"/>
              </a:rPr>
              <a:t>Dark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4772" y="859536"/>
            <a:ext cx="1156716" cy="292608"/>
          </a:xfrm>
          <a:prstGeom prst="roundRect">
            <a:avLst>
              <a:gd name="adj" fmla="val 30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7340" y="859536"/>
            <a:ext cx="12115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4FA8E8"/>
                </a:solidFill>
                <a:latin typeface="Calibri"/>
              </a:rPr>
              <a:t>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" y="1243584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0D3B7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1243584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0D3B7A"/>
                </a:solidFill>
                <a:latin typeface="Calibri"/>
              </a:rPr>
              <a:t>dark blue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13916" y="1243584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8EC5F5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1972" y="1243584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3A8ED8"/>
                </a:solidFill>
                <a:latin typeface="Calibri"/>
              </a:rPr>
              <a:t>light blue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18470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C99600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1847088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C99600"/>
                </a:solidFill>
                <a:latin typeface="Calibri"/>
              </a:rPr>
              <a:t>dark yellow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13916" y="18470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FFEE8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61972" y="1847088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C9A21E"/>
                </a:solidFill>
                <a:latin typeface="Calibri"/>
              </a:rPr>
              <a:t>light yellow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" y="245059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B5E35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2450592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1B5E35"/>
                </a:solidFill>
                <a:latin typeface="Calibri"/>
              </a:rPr>
              <a:t>dark green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3916" y="245059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A8E08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61972" y="2450592"/>
            <a:ext cx="754380" cy="42062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50" b="1">
                <a:solidFill>
                  <a:srgbClr val="4EA83A"/>
                </a:solidFill>
                <a:latin typeface="Calibri"/>
              </a:rPr>
              <a:t>light green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108960"/>
            <a:ext cx="2148840" cy="18288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209544"/>
            <a:ext cx="25146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Do you like </a:t>
            </a:r>
            <a:r>
              <a:rPr sz="1400" b="1">
                <a:solidFill>
                  <a:srgbClr val="0D3B7A"/>
                </a:solidFill>
                <a:latin typeface="Calibri"/>
              </a:rPr>
              <a:t>dark colors</a:t>
            </a:r>
            <a:r>
              <a:rPr sz="1300" b="0">
                <a:solidFill>
                  <a:srgbClr val="3D5A80"/>
                </a:solidFill>
                <a:latin typeface="Calibri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547872"/>
            <a:ext cx="2514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2A9D8F"/>
                </a:solidFill>
                <a:latin typeface="Calibri"/>
              </a:rPr>
              <a:t>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785616"/>
            <a:ext cx="25146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3D5A80"/>
                </a:solidFill>
                <a:latin typeface="Calibri"/>
              </a:rPr>
              <a:t>Do you like </a:t>
            </a:r>
            <a:r>
              <a:rPr sz="1400" b="1">
                <a:solidFill>
                  <a:srgbClr val="4FA8E8"/>
                </a:solidFill>
                <a:latin typeface="Calibri"/>
              </a:rPr>
              <a:t>light colors</a:t>
            </a:r>
            <a:r>
              <a:rPr sz="1300" b="0">
                <a:solidFill>
                  <a:srgbClr val="3D5A80"/>
                </a:solidFill>
                <a:latin typeface="Calibri"/>
              </a:rPr>
              <a:t>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2288" y="45720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45168" y="585216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731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Guess what it is!</a:t>
            </a:r>
          </a:p>
        </p:txBody>
      </p:sp>
      <p:pic>
        <p:nvPicPr>
          <p:cNvPr id="35" name="Picture 34" descr="9f145df7e6ebf3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1097280"/>
            <a:ext cx="23774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put on my </a:t>
            </a:r>
            <a:r>
              <a:rPr sz="3700" b="1">
                <a:solidFill>
                  <a:srgbClr val="2A9D8F"/>
                </a:solidFill>
                <a:latin typeface="Calibri"/>
              </a:rPr>
              <a:t>socks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41d4fed10c82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1752" y="256032"/>
            <a:ext cx="2606040" cy="1631272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72716f35c57f1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"/>
            <a:ext cx="2478024" cy="1503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824" y="1914736"/>
            <a:ext cx="9144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secret</a:t>
            </a:r>
          </a:p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2352" y="1914736"/>
            <a:ext cx="9144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low-cut</a:t>
            </a:r>
          </a:p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319" y="1914736"/>
            <a:ext cx="9144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knee-high</a:t>
            </a:r>
          </a:p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435944"/>
            <a:ext cx="26060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7B6BB0"/>
                </a:solidFill>
                <a:latin typeface="Calibri"/>
              </a:rPr>
              <a:t>pairs</a:t>
            </a:r>
            <a:r>
              <a:rPr sz="1800" b="1">
                <a:solidFill>
                  <a:srgbClr val="3D5A80"/>
                </a:solidFill>
                <a:latin typeface="Calibri"/>
              </a:rPr>
              <a:t>  =  </a:t>
            </a:r>
            <a:r>
              <a:rPr sz="2000" b="1">
                <a:solidFill>
                  <a:srgbClr val="E0765A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2847424"/>
            <a:ext cx="734568" cy="960120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1ba0029d0c86a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911432"/>
            <a:ext cx="606552" cy="8321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4904" y="3834976"/>
            <a:ext cx="8442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a </a:t>
            </a:r>
            <a:r>
              <a:rPr sz="1300" b="1">
                <a:solidFill>
                  <a:srgbClr val="2A9D8F"/>
                </a:solidFill>
                <a:latin typeface="Calibri"/>
              </a:rPr>
              <a:t>pair</a:t>
            </a:r>
            <a:r>
              <a:rPr sz="1200" b="0">
                <a:solidFill>
                  <a:srgbClr val="3D5A80"/>
                </a:solidFill>
                <a:latin typeface="Calibri"/>
              </a:rPr>
              <a:t> of</a:t>
            </a:r>
          </a:p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socks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7488" y="2847424"/>
            <a:ext cx="734568" cy="960120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247fbe7a434c6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496" y="2911432"/>
            <a:ext cx="606552" cy="832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2624" y="3834976"/>
            <a:ext cx="8442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a </a:t>
            </a:r>
            <a:r>
              <a:rPr sz="1300" b="1">
                <a:solidFill>
                  <a:srgbClr val="2A9D8F"/>
                </a:solidFill>
                <a:latin typeface="Calibri"/>
              </a:rPr>
              <a:t>pair</a:t>
            </a:r>
            <a:r>
              <a:rPr sz="1200" b="0">
                <a:solidFill>
                  <a:srgbClr val="3D5A80"/>
                </a:solidFill>
                <a:latin typeface="Calibri"/>
              </a:rPr>
              <a:t> of</a:t>
            </a:r>
          </a:p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scissors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5208" y="2847424"/>
            <a:ext cx="734568" cy="960120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434ad7c0ac091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9216" y="2911432"/>
            <a:ext cx="606552" cy="8321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90344" y="3834976"/>
            <a:ext cx="8442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a </a:t>
            </a:r>
            <a:r>
              <a:rPr sz="1300" b="1">
                <a:solidFill>
                  <a:srgbClr val="2A9D8F"/>
                </a:solidFill>
                <a:latin typeface="Calibri"/>
              </a:rPr>
              <a:t>pair</a:t>
            </a:r>
            <a:r>
              <a:rPr sz="1200" b="0">
                <a:solidFill>
                  <a:srgbClr val="3D5A80"/>
                </a:solidFill>
                <a:latin typeface="Calibri"/>
              </a:rPr>
              <a:t> of</a:t>
            </a:r>
          </a:p>
          <a:p>
            <a:pPr algn="ctr"/>
            <a:r>
              <a:rPr sz="1200" b="1">
                <a:solidFill>
                  <a:srgbClr val="7B6BB0"/>
                </a:solidFill>
                <a:latin typeface="Calibri"/>
              </a:rPr>
              <a:t>glasses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320040"/>
            <a:ext cx="2651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43891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548640"/>
            <a:ext cx="2468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1">
                <a:solidFill>
                  <a:srgbClr val="7B6BB0"/>
                </a:solidFill>
                <a:latin typeface="Calibri"/>
              </a:rPr>
              <a:t>Do you wear socks with 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3728" y="941832"/>
            <a:ext cx="118872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FFB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6f292cca5162fc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1014984"/>
            <a:ext cx="1042416" cy="914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72016" y="1947672"/>
            <a:ext cx="1152144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 with</a:t>
            </a:r>
          </a:p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slippers?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254203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8" y="254203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2" y="261518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84664" y="254203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2" y="254203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0696" y="261518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33888" y="941832"/>
            <a:ext cx="118872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FFB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711ce82dba89c6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040" y="1014984"/>
            <a:ext cx="1042416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52176" y="1947672"/>
            <a:ext cx="1152144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 with</a:t>
            </a:r>
          </a:p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school shoes?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254203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25328" y="254203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63072" y="261518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164824" y="254203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83112" y="254203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20856" y="261518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53728" y="3090672"/>
            <a:ext cx="118872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FFB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0e57091b027b96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3163824"/>
            <a:ext cx="1042416" cy="914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72016" y="4096512"/>
            <a:ext cx="1152144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 with</a:t>
            </a:r>
          </a:p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sneakers?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69087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45168" y="469087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82912" y="476402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84664" y="469087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02952" y="469087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0696" y="476402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33888" y="3090672"/>
            <a:ext cx="118872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FFB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54f040fb86fa6f6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0" y="3163824"/>
            <a:ext cx="1042416" cy="914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52176" y="4096512"/>
            <a:ext cx="1152144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3D5A80"/>
                </a:solidFill>
                <a:latin typeface="Calibri"/>
              </a:rPr>
              <a:t>socks with</a:t>
            </a:r>
          </a:p>
          <a:p>
            <a:pPr algn="ctr"/>
            <a:r>
              <a:rPr sz="1100" b="1">
                <a:solidFill>
                  <a:srgbClr val="2A9D8F"/>
                </a:solidFill>
                <a:latin typeface="Calibri"/>
              </a:rPr>
              <a:t>sandals?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07040" y="469087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25328" y="469087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3072" y="476402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164824" y="4690872"/>
            <a:ext cx="484632" cy="310896"/>
          </a:xfrm>
          <a:prstGeom prst="roundRect">
            <a:avLst>
              <a:gd name="adj" fmla="val 3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83112" y="4690872"/>
            <a:ext cx="246888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20856" y="4764024"/>
            <a:ext cx="164592" cy="1645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wear my </a:t>
            </a:r>
            <a:r>
              <a:rPr sz="3700" b="1">
                <a:solidFill>
                  <a:srgbClr val="2A9D8F"/>
                </a:solidFill>
                <a:latin typeface="Calibri"/>
              </a:rPr>
              <a:t>jacket</a:t>
            </a:r>
            <a:r>
              <a:rPr sz="3200" b="0">
                <a:solidFill>
                  <a:srgbClr val="3D5A80"/>
                </a:solidFill>
                <a:latin typeface="Calibri"/>
              </a:rPr>
              <a:t> outside.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d3afc3b31f2b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36670" y="320040"/>
            <a:ext cx="881340" cy="1527048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246edc73b61f4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678" y="384048"/>
            <a:ext cx="753324" cy="13990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" y="2395728"/>
            <a:ext cx="1527048" cy="1527048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52723ca24a005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459736"/>
            <a:ext cx="1399032" cy="1399032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018010" y="1083564"/>
            <a:ext cx="4283786" cy="149254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74364" y="254867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340864" y="2908934"/>
            <a:ext cx="3596504" cy="25031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09936" y="288150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" y="189280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" y="1892808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zipper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" y="3968496"/>
            <a:ext cx="237744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" y="3986784"/>
            <a:ext cx="2377440" cy="621792"/>
          </a:xfrm>
          <a:prstGeom prst="rect">
            <a:avLst/>
          </a:prstGeom>
          <a:noFill/>
        </p:spPr>
        <p:txBody>
          <a:bodyPr wrap="square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D5A80"/>
                </a:solidFill>
                <a:latin typeface="Calibri"/>
              </a:rPr>
              <a:t>pocket</a:t>
            </a:r>
          </a:p>
          <a:p>
            <a:pPr algn="ctr"/>
            <a:r>
              <a:rPr sz="1150" b="1">
                <a:solidFill>
                  <a:srgbClr val="7B6BB0"/>
                </a:solidFill>
                <a:latin typeface="Calibri"/>
              </a:rPr>
              <a:t>What do you have in your pocket?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365760"/>
            <a:ext cx="26517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475488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2ca8ce99845d4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640080"/>
            <a:ext cx="2322576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2016" y="2267712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put on</a:t>
            </a:r>
            <a:r>
              <a:rPr sz="1200" b="0">
                <a:solidFill>
                  <a:srgbClr val="3D5A80"/>
                </a:solidFill>
                <a:latin typeface="Calibri"/>
              </a:rPr>
              <a:t> my jacket.</a:t>
            </a:r>
          </a:p>
        </p:txBody>
      </p:sp>
      <p:pic>
        <p:nvPicPr>
          <p:cNvPr id="25" name="Picture 24" descr="cff3df1c5161d64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788920"/>
            <a:ext cx="2322576" cy="1554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72016" y="4416552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take off</a:t>
            </a:r>
            <a:r>
              <a:rPr sz="1200" b="0">
                <a:solidFill>
                  <a:srgbClr val="3D5A80"/>
                </a:solidFill>
                <a:latin typeface="Calibri"/>
              </a:rPr>
              <a:t> my jacket.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sweep with a </a:t>
            </a:r>
            <a:r>
              <a:rPr sz="3700" b="1">
                <a:solidFill>
                  <a:srgbClr val="2A9D8F"/>
                </a:solidFill>
                <a:latin typeface="Calibri"/>
              </a:rPr>
              <a:t>broom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152ad655cfd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7472" y="292608"/>
            <a:ext cx="2514600" cy="3246120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b7dc924563205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6616"/>
            <a:ext cx="2386584" cy="31181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4692" y="359359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" y="3593592"/>
            <a:ext cx="128016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sweeping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39227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sweep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floor.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411480"/>
            <a:ext cx="26517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45168" y="53035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465fa9036d9db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685800"/>
            <a:ext cx="2377440" cy="3246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48088" y="398678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3986784"/>
            <a:ext cx="128016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mopping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43159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mop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floor.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plant</a:t>
            </a:r>
            <a:r>
              <a:rPr sz="3200" b="0">
                <a:solidFill>
                  <a:srgbClr val="3D5A80"/>
                </a:solidFill>
                <a:latin typeface="Calibri"/>
              </a:rPr>
              <a:t> needs water.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c1d4e762a1cf3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892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7163539d00d33c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92931"/>
            <a:ext cx="2020824" cy="11367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4356" y="2342292"/>
            <a:ext cx="1925968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7d7fa07f26119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64" y="2406300"/>
            <a:ext cx="1797952" cy="1554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651760" y="1161287"/>
            <a:ext cx="2866075" cy="38092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90403" y="151477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540324" y="1880708"/>
            <a:ext cx="3656651" cy="130283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69543" y="185327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700" y="18393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" y="183937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leaf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" y="407050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" y="4070508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leaves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320040"/>
            <a:ext cx="2651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43891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521208"/>
            <a:ext cx="26517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3CA04A"/>
                </a:solidFill>
                <a:latin typeface="Calibri"/>
              </a:rPr>
              <a:t>Plants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886968"/>
            <a:ext cx="26517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3D5A80"/>
                </a:solidFill>
                <a:latin typeface="Calibri"/>
              </a:rPr>
              <a:t>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2076" y="1161288"/>
            <a:ext cx="996696" cy="4572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2400" b="1">
                <a:solidFill>
                  <a:srgbClr val="2F80ED"/>
                </a:solidFill>
                <a:latin typeface="Calibri"/>
              </a:rPr>
              <a:t>water.</a:t>
            </a:r>
          </a:p>
        </p:txBody>
      </p:sp>
      <p:pic>
        <p:nvPicPr>
          <p:cNvPr id="26" name="Picture 25" descr="8bba5987d174be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3636" y="1179576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62288" y="1636776"/>
            <a:ext cx="26517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3D5A80"/>
                </a:solidFill>
                <a:latin typeface="Calibri"/>
              </a:rPr>
              <a:t>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762" y="1911096"/>
            <a:ext cx="1449324" cy="4572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2400" b="1">
                <a:solidFill>
                  <a:srgbClr val="E8A800"/>
                </a:solidFill>
                <a:latin typeface="Calibri"/>
              </a:rPr>
              <a:t>sunlight.</a:t>
            </a:r>
          </a:p>
        </p:txBody>
      </p:sp>
      <p:pic>
        <p:nvPicPr>
          <p:cNvPr id="29" name="Picture 28" descr="7fa8a51258a6b1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950" y="1929384"/>
            <a:ext cx="420624" cy="42062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436608" y="2459736"/>
            <a:ext cx="2103120" cy="18288"/>
          </a:xfrm>
          <a:prstGeom prst="rect">
            <a:avLst/>
          </a:prstGeom>
          <a:solidFill>
            <a:srgbClr val="D9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2551176"/>
            <a:ext cx="265176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300" b="1">
                <a:solidFill>
                  <a:srgbClr val="7B6BB0"/>
                </a:solidFill>
                <a:latin typeface="Calibri"/>
              </a:rPr>
              <a:t>Plants give us </a:t>
            </a:r>
            <a:r>
              <a:rPr sz="1600" b="1">
                <a:solidFill>
                  <a:srgbClr val="E0765A"/>
                </a:solidFill>
                <a:latin typeface="Calibri"/>
              </a:rPr>
              <a:t>?</a:t>
            </a:r>
          </a:p>
        </p:txBody>
      </p:sp>
      <p:pic>
        <p:nvPicPr>
          <p:cNvPr id="32" name="Picture 31" descr="30e2651b25bac8c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008376"/>
            <a:ext cx="2286000" cy="1325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62288" y="4398264"/>
            <a:ext cx="2651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  <a:latin typeface="Calibri"/>
              </a:rPr>
              <a:t>clean air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800600"/>
            <a:ext cx="10728655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change the channel with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remote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c9fdb0b2551c1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5" y="502920"/>
            <a:ext cx="384048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388620"/>
            <a:ext cx="2148840" cy="154533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8fd0106038e48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2628"/>
            <a:ext cx="2020824" cy="1417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5612" y="2482596"/>
            <a:ext cx="1743456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758a895475610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" y="2546604"/>
            <a:ext cx="1615440" cy="155448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2651760" y="1161288"/>
            <a:ext cx="3360448" cy="89533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84776" y="122338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449068" y="2031139"/>
            <a:ext cx="3568032" cy="129270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9668" y="200370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700" y="197967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" y="1979676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click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21081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1081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buttons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320040"/>
            <a:ext cx="2651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438912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6058cdaf8e993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594360"/>
            <a:ext cx="1143000" cy="1051560"/>
          </a:xfrm>
          <a:prstGeom prst="rect">
            <a:avLst/>
          </a:prstGeom>
        </p:spPr>
      </p:pic>
      <p:pic>
        <p:nvPicPr>
          <p:cNvPr id="24" name="Picture 23" descr="bd86185bd027a59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8168" y="594360"/>
            <a:ext cx="1143000" cy="10515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619488" y="167335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1673352"/>
            <a:ext cx="502920" cy="21945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8208" y="167335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8208" y="1673352"/>
            <a:ext cx="502920" cy="21945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2011680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turn </a:t>
            </a:r>
            <a:r>
              <a:rPr sz="1400" b="1">
                <a:solidFill>
                  <a:srgbClr val="2A9D8F"/>
                </a:solidFill>
                <a:latin typeface="Calibri"/>
              </a:rPr>
              <a:t>on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TV.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2304288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turn </a:t>
            </a:r>
            <a:r>
              <a:rPr sz="1400" b="1">
                <a:solidFill>
                  <a:srgbClr val="2A9D8F"/>
                </a:solidFill>
                <a:latin typeface="Calibri"/>
              </a:rPr>
              <a:t>off</a:t>
            </a:r>
            <a:r>
              <a:rPr sz="1200" b="0">
                <a:solidFill>
                  <a:srgbClr val="3D5A80"/>
                </a:solidFill>
                <a:latin typeface="Calibri"/>
              </a:rPr>
              <a:t> the TV.</a:t>
            </a:r>
          </a:p>
        </p:txBody>
      </p:sp>
      <p:pic>
        <p:nvPicPr>
          <p:cNvPr id="31" name="Picture 30" descr="19fd2a2e26e6b8d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48" y="2834640"/>
            <a:ext cx="1143000" cy="1051560"/>
          </a:xfrm>
          <a:prstGeom prst="rect">
            <a:avLst/>
          </a:prstGeom>
        </p:spPr>
      </p:pic>
      <p:pic>
        <p:nvPicPr>
          <p:cNvPr id="32" name="Picture 31" descr="3c048a024f957f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8168" y="2834640"/>
            <a:ext cx="1143000" cy="10515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50908" y="391363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0908" y="3913632"/>
            <a:ext cx="640080" cy="21945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down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5348" y="391363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5348" y="3913632"/>
            <a:ext cx="548640" cy="21945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251960"/>
            <a:ext cx="250545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3D5A80"/>
                </a:solidFill>
                <a:latin typeface="Calibri"/>
              </a:rPr>
              <a:t>I turn the volume </a:t>
            </a:r>
            <a:r>
              <a:rPr sz="1400" b="1">
                <a:solidFill>
                  <a:srgbClr val="2A9D8F"/>
                </a:solidFill>
                <a:latin typeface="Calibri"/>
              </a:rPr>
              <a:t>up</a:t>
            </a:r>
            <a:r>
              <a:rPr sz="1200" b="0">
                <a:solidFill>
                  <a:srgbClr val="3D5A80"/>
                </a:solidFill>
                <a:latin typeface="Calibri"/>
              </a:rPr>
              <a:t> / </a:t>
            </a:r>
            <a:r>
              <a:rPr sz="1400" b="1">
                <a:solidFill>
                  <a:srgbClr val="2A9D8F"/>
                </a:solidFill>
                <a:latin typeface="Calibri"/>
              </a:rPr>
              <a:t>down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tau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64463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1 · Circle &amp;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460175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A9D8F"/>
                </a:solidFill>
                <a:latin typeface="Calibri"/>
              </a:rPr>
              <a:t>Read the sentence. Draw a line to the right word. Then circle the 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1.  Please open the ______.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4380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9560" y="2286000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34086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towel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2331720"/>
            <a:ext cx="45720" cy="109728"/>
          </a:xfrm>
          <a:prstGeom prst="roundRect">
            <a:avLst/>
          </a:prstGeom>
          <a:solidFill>
            <a:srgbClr val="8E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48088" y="2331720"/>
            <a:ext cx="45720" cy="109728"/>
          </a:xfrm>
          <a:prstGeom prst="roundRect">
            <a:avLst/>
          </a:prstGeom>
          <a:solidFill>
            <a:srgbClr val="8E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350008"/>
            <a:ext cx="841248" cy="4572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s-towel-drape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953" y="2295144"/>
            <a:ext cx="669903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20" y="2944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2.  The ______ keeps food cold.</a:t>
            </a:r>
          </a:p>
        </p:txBody>
      </p:sp>
      <p:sp>
        <p:nvSpPr>
          <p:cNvPr id="18" name="Oval 17"/>
          <p:cNvSpPr/>
          <p:nvPr/>
        </p:nvSpPr>
        <p:spPr>
          <a:xfrm>
            <a:off x="571500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4380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2944368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99923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jacket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2990088"/>
            <a:ext cx="45720" cy="109728"/>
          </a:xfrm>
          <a:prstGeom prst="roundRect">
            <a:avLst/>
          </a:prstGeom>
          <a:solidFill>
            <a:srgbClr val="8E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48088" y="2990088"/>
            <a:ext cx="45720" cy="109728"/>
          </a:xfrm>
          <a:prstGeom prst="roundRect">
            <a:avLst/>
          </a:prstGeom>
          <a:solidFill>
            <a:srgbClr val="8E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3008376"/>
            <a:ext cx="841248" cy="4572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s-jacket-hang-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746" y="2980944"/>
            <a:ext cx="532316" cy="6035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45920" y="36027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3.  I talk on the ______.</a:t>
            </a:r>
          </a:p>
        </p:txBody>
      </p:sp>
      <p:sp>
        <p:nvSpPr>
          <p:cNvPr id="27" name="Oval 26"/>
          <p:cNvSpPr/>
          <p:nvPr/>
        </p:nvSpPr>
        <p:spPr>
          <a:xfrm>
            <a:off x="571500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4380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09560" y="3602736"/>
            <a:ext cx="2103120" cy="457200"/>
          </a:xfrm>
          <a:prstGeom prst="roundRect">
            <a:avLst>
              <a:gd name="adj" fmla="val 45000"/>
            </a:avLst>
          </a:prstGeom>
          <a:gradFill rotWithShape="1">
            <a:gsLst>
              <a:gs pos="0">
                <a:srgbClr val="C8ECFF"/>
              </a:gs>
              <a:gs pos="100000">
                <a:srgbClr val="F4FCFF"/>
              </a:gs>
            </a:gsLst>
            <a:lin scaled="0" ang="16200000"/>
          </a:gradFill>
          <a:ln w="28575">
            <a:solidFill>
              <a:srgbClr val="8C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3621024"/>
            <a:ext cx="292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BFEA"/>
                </a:solidFill>
                <a:latin typeface="DejaVu Sans"/>
              </a:rPr>
              <a:t>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621024"/>
            <a:ext cx="292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BFEA"/>
                </a:solidFill>
                <a:latin typeface="DejaVu Sans"/>
              </a:rPr>
              <a:t>❄</a:t>
            </a:r>
          </a:p>
        </p:txBody>
      </p:sp>
      <p:sp>
        <p:nvSpPr>
          <p:cNvPr id="32" name="Isosceles Triangle 31"/>
          <p:cNvSpPr/>
          <p:nvPr/>
        </p:nvSpPr>
        <p:spPr>
          <a:xfrm rot="10800000">
            <a:off x="8321040" y="4032504"/>
            <a:ext cx="82296" cy="9144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8522208" y="4032504"/>
            <a:ext cx="82296" cy="13716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8723376" y="4032504"/>
            <a:ext cx="82296" cy="18288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8924544" y="4032504"/>
            <a:ext cx="82296" cy="9144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9125712" y="4032504"/>
            <a:ext cx="82296" cy="13716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9326880" y="4032504"/>
            <a:ext cx="82296" cy="18288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0800000">
            <a:off x="9528048" y="4032504"/>
            <a:ext cx="82296" cy="91440"/>
          </a:xfrm>
          <a:prstGeom prst="triangle">
            <a:avLst/>
          </a:prstGeom>
          <a:solidFill>
            <a:srgbClr val="BF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fridge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42611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4.  I wash my hands with ______.</a:t>
            </a:r>
          </a:p>
        </p:txBody>
      </p:sp>
      <p:sp>
        <p:nvSpPr>
          <p:cNvPr id="41" name="Oval 40"/>
          <p:cNvSpPr/>
          <p:nvPr/>
        </p:nvSpPr>
        <p:spPr>
          <a:xfrm>
            <a:off x="571500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4380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09560" y="426110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8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64424" y="4315968"/>
            <a:ext cx="1993392" cy="347472"/>
          </a:xfrm>
          <a:prstGeom prst="rect">
            <a:avLst/>
          </a:prstGeom>
          <a:gradFill rotWithShape="1">
            <a:gsLst>
              <a:gs pos="0">
                <a:srgbClr val="BFE3FF"/>
              </a:gs>
              <a:gs pos="100000">
                <a:srgbClr val="EAF6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09610" y="4315968"/>
            <a:ext cx="41148" cy="347472"/>
          </a:xfrm>
          <a:prstGeom prst="rect">
            <a:avLst/>
          </a:prstGeom>
          <a:solidFill>
            <a:srgbClr val="8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71482" y="4315968"/>
            <a:ext cx="41148" cy="347472"/>
          </a:xfrm>
          <a:prstGeom prst="rect">
            <a:avLst/>
          </a:prstGeom>
          <a:solidFill>
            <a:srgbClr val="8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64424" y="4469130"/>
            <a:ext cx="1993392" cy="41148"/>
          </a:xfrm>
          <a:prstGeom prst="rect">
            <a:avLst/>
          </a:prstGeom>
          <a:solidFill>
            <a:srgbClr val="8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54696" y="4700016"/>
            <a:ext cx="2212848" cy="54864"/>
          </a:xfrm>
          <a:prstGeom prst="rect">
            <a:avLst/>
          </a:prstGeom>
          <a:solidFill>
            <a:srgbClr val="6E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67344" y="4334256"/>
            <a:ext cx="987552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8A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4315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4919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5.  I dry my hands with a ______.</a:t>
            </a:r>
          </a:p>
        </p:txBody>
      </p:sp>
      <p:sp>
        <p:nvSpPr>
          <p:cNvPr id="52" name="Oval 51"/>
          <p:cNvSpPr/>
          <p:nvPr/>
        </p:nvSpPr>
        <p:spPr>
          <a:xfrm>
            <a:off x="571500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4380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09560" y="4919472"/>
            <a:ext cx="2103120" cy="457200"/>
          </a:xfrm>
          <a:prstGeom prst="roundRect">
            <a:avLst>
              <a:gd name="adj" fmla="val 45000"/>
            </a:avLst>
          </a:prstGeom>
          <a:solidFill>
            <a:srgbClr val="F2DDF8"/>
          </a:solidFill>
          <a:ln w="19050">
            <a:solidFill>
              <a:srgbClr val="D2B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99832" y="4809744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01000" y="5193792"/>
            <a:ext cx="146304" cy="14630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738360" y="4791456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02952" y="5175504"/>
            <a:ext cx="164592" cy="16459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09760" y="5248656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57032" y="4828032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26880" y="4809744"/>
            <a:ext cx="128016" cy="12801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9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9560" y="4974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soap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59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6.  I wear my ______ outside.</a:t>
            </a:r>
          </a:p>
        </p:txBody>
      </p:sp>
      <p:sp>
        <p:nvSpPr>
          <p:cNvPr id="64" name="Oval 63"/>
          <p:cNvSpPr/>
          <p:nvPr/>
        </p:nvSpPr>
        <p:spPr>
          <a:xfrm>
            <a:off x="571500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4380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909560" y="5577840"/>
            <a:ext cx="2103120" cy="457200"/>
          </a:xfrm>
          <a:prstGeom prst="roundRect">
            <a:avLst>
              <a:gd name="adj" fmla="val 45000"/>
            </a:avLst>
          </a:prstGeom>
          <a:gradFill rotWithShape="1">
            <a:gsLst>
              <a:gs pos="0">
                <a:srgbClr val="3A3D45"/>
              </a:gs>
              <a:gs pos="100000">
                <a:srgbClr val="050508"/>
              </a:gs>
            </a:gsLst>
            <a:lin scaled="0" ang="16200000"/>
          </a:gradFill>
          <a:ln w="15875">
            <a:solidFill>
              <a:srgbClr val="55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019288" y="5614416"/>
            <a:ext cx="1883664" cy="192024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con-answ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641848"/>
            <a:ext cx="296133" cy="329184"/>
          </a:xfrm>
          <a:prstGeom prst="rect">
            <a:avLst/>
          </a:prstGeom>
        </p:spPr>
      </p:pic>
      <p:pic>
        <p:nvPicPr>
          <p:cNvPr id="69" name="Picture 68" descr="icon-hang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768" y="5641848"/>
            <a:ext cx="296133" cy="32918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909560" y="5632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2 · Worksheet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orksheet-banner-tau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1460175" cy="64463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2 · Find and Circle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517904"/>
            <a:ext cx="8644128" cy="4910328"/>
          </a:xfrm>
          <a:prstGeom prst="roundRect">
            <a:avLst>
              <a:gd name="adj" fmla="val 6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idden-objects-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72768"/>
            <a:ext cx="85344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28760" y="1517904"/>
            <a:ext cx="2742895" cy="4910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20" y="1645920"/>
            <a:ext cx="246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Find it! Point to it. Circle it.</a:t>
            </a:r>
          </a:p>
        </p:txBody>
      </p:sp>
      <p:sp>
        <p:nvSpPr>
          <p:cNvPr id="10" name="Oval 9"/>
          <p:cNvSpPr/>
          <p:nvPr/>
        </p:nvSpPr>
        <p:spPr>
          <a:xfrm>
            <a:off x="9275064" y="2103120"/>
            <a:ext cx="182880" cy="182880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12808" y="2029968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open for fresh air.</a:t>
            </a:r>
          </a:p>
        </p:txBody>
      </p:sp>
      <p:sp>
        <p:nvSpPr>
          <p:cNvPr id="12" name="Oval 11"/>
          <p:cNvSpPr/>
          <p:nvPr/>
        </p:nvSpPr>
        <p:spPr>
          <a:xfrm>
            <a:off x="9275064" y="2528316"/>
            <a:ext cx="182880" cy="182880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2808" y="2455164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keeps food cold.</a:t>
            </a:r>
          </a:p>
        </p:txBody>
      </p:sp>
      <p:sp>
        <p:nvSpPr>
          <p:cNvPr id="14" name="Oval 13"/>
          <p:cNvSpPr/>
          <p:nvPr/>
        </p:nvSpPr>
        <p:spPr>
          <a:xfrm>
            <a:off x="9275064" y="2953512"/>
            <a:ext cx="182880" cy="182880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2808" y="2880360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talk on.</a:t>
            </a:r>
          </a:p>
        </p:txBody>
      </p:sp>
      <p:sp>
        <p:nvSpPr>
          <p:cNvPr id="16" name="Oval 15"/>
          <p:cNvSpPr/>
          <p:nvPr/>
        </p:nvSpPr>
        <p:spPr>
          <a:xfrm>
            <a:off x="9275064" y="3378708"/>
            <a:ext cx="182880" cy="18288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12808" y="3305556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opens a door.</a:t>
            </a:r>
          </a:p>
        </p:txBody>
      </p:sp>
      <p:sp>
        <p:nvSpPr>
          <p:cNvPr id="18" name="Oval 17"/>
          <p:cNvSpPr/>
          <p:nvPr/>
        </p:nvSpPr>
        <p:spPr>
          <a:xfrm>
            <a:off x="9275064" y="3803904"/>
            <a:ext cx="182880" cy="182880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2808" y="3730752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wash your hands with.</a:t>
            </a:r>
          </a:p>
        </p:txBody>
      </p:sp>
      <p:sp>
        <p:nvSpPr>
          <p:cNvPr id="20" name="Oval 19"/>
          <p:cNvSpPr/>
          <p:nvPr/>
        </p:nvSpPr>
        <p:spPr>
          <a:xfrm>
            <a:off x="9275064" y="4229100"/>
            <a:ext cx="182880" cy="182880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12808" y="4155948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dry your hands with.</a:t>
            </a:r>
          </a:p>
        </p:txBody>
      </p:sp>
      <p:sp>
        <p:nvSpPr>
          <p:cNvPr id="22" name="Oval 21"/>
          <p:cNvSpPr/>
          <p:nvPr/>
        </p:nvSpPr>
        <p:spPr>
          <a:xfrm>
            <a:off x="9275064" y="4654296"/>
            <a:ext cx="182880" cy="182880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2808" y="4581144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look in.</a:t>
            </a:r>
          </a:p>
        </p:txBody>
      </p:sp>
      <p:sp>
        <p:nvSpPr>
          <p:cNvPr id="24" name="Oval 23"/>
          <p:cNvSpPr/>
          <p:nvPr/>
        </p:nvSpPr>
        <p:spPr>
          <a:xfrm>
            <a:off x="9275064" y="5079492"/>
            <a:ext cx="182880" cy="182880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12808" y="5006340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your food sits on.</a:t>
            </a:r>
          </a:p>
        </p:txBody>
      </p:sp>
      <p:sp>
        <p:nvSpPr>
          <p:cNvPr id="26" name="Oval 25"/>
          <p:cNvSpPr/>
          <p:nvPr/>
        </p:nvSpPr>
        <p:spPr>
          <a:xfrm>
            <a:off x="9275064" y="5504688"/>
            <a:ext cx="182880" cy="182880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2808" y="5431536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colour with.</a:t>
            </a:r>
          </a:p>
        </p:txBody>
      </p:sp>
      <p:sp>
        <p:nvSpPr>
          <p:cNvPr id="28" name="Oval 27"/>
          <p:cNvSpPr/>
          <p:nvPr/>
        </p:nvSpPr>
        <p:spPr>
          <a:xfrm>
            <a:off x="9275064" y="5929884"/>
            <a:ext cx="182880" cy="18288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2808" y="5856732"/>
            <a:ext cx="2285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needs water.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2 · Worksheet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a16563a21d07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217b93bbac9d8b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open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close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1159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69604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5919" y="4510278"/>
            <a:ext cx="3419856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win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239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3199" y="4620006"/>
            <a:ext cx="218541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1 /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aeb807b72919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b4220bcc399825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put on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take off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1159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69604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5919" y="4510278"/>
            <a:ext cx="3419856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ja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239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3199" y="4620006"/>
            <a:ext cx="218541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jacket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2 /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20ff918791d3c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c56b9a3ec87f08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wash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dry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21218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9546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6503" y="4510278"/>
            <a:ext cx="3218688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23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3783" y="4620006"/>
            <a:ext cx="1984248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3 /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41adbacbb5203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61397a73abe0fe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pick up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put down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21218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9546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6503" y="4510278"/>
            <a:ext cx="3218688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23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3783" y="4620006"/>
            <a:ext cx="1984248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4 /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e03f70fbfff7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b7a1f4b4597c7b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off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31276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49487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7087" y="4510278"/>
            <a:ext cx="3017520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T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407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84367" y="4620006"/>
            <a:ext cx="1783080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5 /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deaf22de89e2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4990356946c33d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812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water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807" y="182880"/>
            <a:ext cx="3794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8807" y="237744"/>
            <a:ext cx="3794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watered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21218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95463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6503" y="4510278"/>
            <a:ext cx="3218688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pl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23" y="4713160"/>
            <a:ext cx="822960" cy="462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3783" y="4620006"/>
            <a:ext cx="1984248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plant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2  ·  Action Pairs 6 /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34095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1965960"/>
            <a:ext cx="256032" cy="25603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06240" y="1965960"/>
            <a:ext cx="256032" cy="25603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0" y="1965960"/>
            <a:ext cx="256032" cy="25603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0" y="1965960"/>
            <a:ext cx="256032" cy="25603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0" y="1965960"/>
            <a:ext cx="256032" cy="25603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1965960"/>
            <a:ext cx="256032" cy="25603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79854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Thank you for learning with Everyday Objects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A9D8F"/>
                </a:solidFill>
                <a:latin typeface="Calibri"/>
              </a:rPr>
              <a:t>For one classroom or one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319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B6BB0"/>
                </a:solidFill>
                <a:latin typeface="Calibri"/>
              </a:rPr>
              <a:t>Everyday Objects 2 · Sentence Flashcards · Beginner ESL</a:t>
            </a:r>
          </a:p>
        </p:txBody>
      </p:sp>
      <p:pic>
        <p:nvPicPr>
          <p:cNvPr id="13" name="Picture 12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