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jp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8.jp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2.jp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5.jp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8.jp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1.jp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5.jp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8.jp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2.jp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5.jp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9.jp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3.jp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6.jp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9.jp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3.jp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6.jpg"/><Relationship Id="rId4" Type="http://schemas.openxmlformats.org/officeDocument/2006/relationships/image" Target="../media/image77.png"/><Relationship Id="rId5" Type="http://schemas.openxmlformats.org/officeDocument/2006/relationships/image" Target="../media/image7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9.jp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3.jp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6.jp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Relationship Id="rId8" Type="http://schemas.openxmlformats.org/officeDocument/2006/relationships/image" Target="../media/image104.png"/><Relationship Id="rId9" Type="http://schemas.openxmlformats.org/officeDocument/2006/relationships/image" Target="../media/image105.png"/><Relationship Id="rId10" Type="http://schemas.openxmlformats.org/officeDocument/2006/relationships/image" Target="../media/image106.png"/><Relationship Id="rId11" Type="http://schemas.openxmlformats.org/officeDocument/2006/relationships/image" Target="../media/image107.png"/><Relationship Id="rId12" Type="http://schemas.openxmlformats.org/officeDocument/2006/relationships/image" Target="../media/image108.png"/><Relationship Id="rId13" Type="http://schemas.openxmlformats.org/officeDocument/2006/relationships/image" Target="../media/image10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1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1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-to-z-foods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5760" y="4160520"/>
            <a:ext cx="11460175" cy="24231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4297680"/>
            <a:ext cx="3962095" cy="109728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2628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3D5A80"/>
                </a:solidFill>
                <a:latin typeface="Calibri"/>
              </a:rPr>
              <a:t>A to Z 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A9D8F"/>
                </a:solidFill>
                <a:latin typeface="Calibri"/>
              </a:rPr>
              <a:t>Sentence Flashcards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3212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7B6BB0"/>
                </a:solidFill>
                <a:latin typeface="Calibri"/>
              </a:rPr>
              <a:t>Beginner ESL · A1 · Ages 5–9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A8A"/>
                </a:solidFill>
                <a:latin typeface="Calibri"/>
              </a:rPr>
              <a:t>24 foods · cook · tools · origins · ingredients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uide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0" y="228600"/>
            <a:ext cx="5790895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92608"/>
            <a:ext cx="5790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3D5A80"/>
                </a:solidFill>
                <a:latin typeface="Calibri"/>
              </a:rPr>
              <a:t>How to use this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85800"/>
            <a:ext cx="5790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9D8F"/>
                </a:solidFill>
                <a:latin typeface="Calibri"/>
              </a:rPr>
              <a:t>Teacher / Parent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5943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453896"/>
            <a:ext cx="274320" cy="274320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80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1  Show and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819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Look at the food picture. Read the sentence. The child repeats. Point to the big letter.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03120"/>
            <a:ext cx="5943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2414016"/>
            <a:ext cx="274320" cy="274320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40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2  Name the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420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Point to the small pictures on the left and say each word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063240"/>
            <a:ext cx="5943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3374136"/>
            <a:ext cx="274320" cy="274320"/>
          </a:xfrm>
          <a:prstGeom prst="ellipse">
            <a:avLst/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200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3  Talk the angle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5021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Right side rotates: how you cook it · what you cook with · where it comes from · ingredients.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023360"/>
            <a:ext cx="5943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" y="4334256"/>
            <a:ext cx="274320" cy="274320"/>
          </a:xfrm>
          <a:prstGeom prst="ellipse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160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4  Worksheets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4622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Worksheet 1: Circle &amp; Match. Worksheet 2: Alphabet Find.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983480"/>
            <a:ext cx="5943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2920" y="5294376"/>
            <a:ext cx="274320" cy="274320"/>
          </a:xfrm>
          <a:prstGeom prst="ellipse">
            <a:avLst/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5  Category + extras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4223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Food Group Sort, then optional Cook Match, World, Build a Dish, Picnic.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1143000"/>
            <a:ext cx="5212080" cy="5257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37960" y="1143000"/>
            <a:ext cx="5212080" cy="457200"/>
          </a:xfrm>
          <a:prstGeom prst="roundRect">
            <a:avLst>
              <a:gd name="adj" fmla="val 12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2070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Word List (24) — skip Q &amp; 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A. apple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1305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B. bread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247802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C. carrot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8254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D. donut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1729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E. egg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520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F. fish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8679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G. grape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2153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H. honey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56285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I. ice cream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103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J. juice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257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K. kiwi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5605271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L. lemon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M. milk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21305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N. noodle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4780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O. orange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28254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P. pizza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3172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R. rice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S. soup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3867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T. tomato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42153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U. udon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4562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V. vanilla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910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W. watermelon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Y. yogurt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560527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Z. zucchini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like a red </a:t>
            </a:r>
            <a:r>
              <a:rPr sz="3700" b="1">
                <a:solidFill>
                  <a:srgbClr val="2A9D8F"/>
                </a:solidFill>
                <a:latin typeface="Calibri"/>
              </a:rPr>
              <a:t>apple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A  ·  1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ap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e3d3ca4dfe25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9c168248c7320c7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623595" cy="16344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014751" y="1150200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1371377"/>
            <a:ext cx="3260893" cy="2021047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652049" y="1343945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leaf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31478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Apples grow in many </a:t>
            </a:r>
            <a:r>
              <a:rPr sz="1500" b="1">
                <a:solidFill>
                  <a:srgbClr val="2A9D8F"/>
                </a:solidFill>
                <a:latin typeface="Calibri"/>
              </a:rPr>
              <a:t>cool</a:t>
            </a:r>
            <a:r>
              <a:rPr sz="1300" b="0">
                <a:solidFill>
                  <a:srgbClr val="3D5A80"/>
                </a:solidFill>
                <a:latin typeface="Calibri"/>
              </a:rPr>
              <a:t> countries.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People grow apples all over the </a:t>
            </a:r>
            <a:r>
              <a:rPr sz="1500" b="1">
                <a:solidFill>
                  <a:srgbClr val="2A9D8F"/>
                </a:solidFill>
                <a:latin typeface="Calibri"/>
              </a:rPr>
              <a:t>world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7" name="Picture 26" descr="bc681aaf1ed7e4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133731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308592" y="324840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like red or green apples?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bake fresh </a:t>
            </a:r>
            <a:r>
              <a:rPr sz="3700" b="1">
                <a:solidFill>
                  <a:srgbClr val="2A9D8F"/>
                </a:solidFill>
                <a:latin typeface="Calibri"/>
              </a:rPr>
              <a:t>bread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B  ·  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b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4941dbd8c4cd00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e42a3bff65d3a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624992" cy="676698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016148" y="1810554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470414"/>
            <a:ext cx="4300508" cy="922010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691664" y="2442982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crust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slice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45171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</a:t>
            </a:r>
            <a:r>
              <a:rPr sz="1500" b="1">
                <a:solidFill>
                  <a:srgbClr val="2A9D8F"/>
                </a:solidFill>
                <a:latin typeface="Calibri"/>
              </a:rPr>
              <a:t>bake</a:t>
            </a:r>
            <a:r>
              <a:rPr sz="1300" b="0">
                <a:solidFill>
                  <a:srgbClr val="3D5A80"/>
                </a:solidFill>
                <a:latin typeface="Calibri"/>
              </a:rPr>
              <a:t> the bread in a hot oven.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Bake means cook with dry </a:t>
            </a:r>
            <a:r>
              <a:rPr sz="1500" b="1">
                <a:solidFill>
                  <a:srgbClr val="2A9D8F"/>
                </a:solidFill>
                <a:latin typeface="Calibri"/>
              </a:rPr>
              <a:t>heat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7" name="Picture 26" descr="a9e0fa0bec75e0c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23774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076688" y="423367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423367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bake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6177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Can you smell fresh bread?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cook a sweet </a:t>
            </a:r>
            <a:r>
              <a:rPr sz="3700" b="1">
                <a:solidFill>
                  <a:srgbClr val="2A9D8F"/>
                </a:solidFill>
                <a:latin typeface="Calibri"/>
              </a:rPr>
              <a:t>carrot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C  ·  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carr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45a2069ad58a7c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6992ba9bdf8dc20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473604" cy="89602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64760" y="1223458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418588" y="3392424"/>
            <a:ext cx="3623598" cy="35064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014754" y="3400056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top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tip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45171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cook carrots in a </a:t>
            </a:r>
            <a:r>
              <a:rPr sz="1500" b="1">
                <a:solidFill>
                  <a:srgbClr val="2A9D8F"/>
                </a:solidFill>
                <a:latin typeface="Calibri"/>
              </a:rPr>
              <a:t>pot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add water and </a:t>
            </a:r>
            <a:r>
              <a:rPr sz="1500" b="1">
                <a:solidFill>
                  <a:srgbClr val="2A9D8F"/>
                </a:solidFill>
                <a:latin typeface="Calibri"/>
              </a:rPr>
              <a:t>boil</a:t>
            </a:r>
            <a:r>
              <a:rPr sz="1300" b="0">
                <a:solidFill>
                  <a:srgbClr val="3D5A80"/>
                </a:solidFill>
                <a:latin typeface="Calibri"/>
              </a:rPr>
              <a:t> them.</a:t>
            </a:r>
          </a:p>
        </p:txBody>
      </p:sp>
      <p:pic>
        <p:nvPicPr>
          <p:cNvPr id="27" name="Picture 26" descr="1f31101e7b568fa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23774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076688" y="423367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423367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pot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6177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like carrots raw or cooked?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love a sweet </a:t>
            </a:r>
            <a:r>
              <a:rPr sz="3700" b="1">
                <a:solidFill>
                  <a:srgbClr val="2A9D8F"/>
                </a:solidFill>
                <a:latin typeface="Calibri"/>
              </a:rPr>
              <a:t>donut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D  ·  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3dfe8627b2bd6b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445c02f020af5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624240" cy="456487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015396" y="1590343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326526"/>
            <a:ext cx="3596982" cy="1065898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88138" y="2299094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icing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hole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45171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</a:t>
            </a:r>
            <a:r>
              <a:rPr sz="1500" b="1">
                <a:solidFill>
                  <a:srgbClr val="2A9D8F"/>
                </a:solidFill>
                <a:latin typeface="Calibri"/>
              </a:rPr>
              <a:t>fry</a:t>
            </a:r>
            <a:r>
              <a:rPr sz="1300" b="0">
                <a:solidFill>
                  <a:srgbClr val="3D5A80"/>
                </a:solidFill>
                <a:latin typeface="Calibri"/>
              </a:rPr>
              <a:t> the donut in hot oil.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Fry means cook in hot </a:t>
            </a:r>
            <a:r>
              <a:rPr sz="1500" b="1">
                <a:solidFill>
                  <a:srgbClr val="2A9D8F"/>
                </a:solidFill>
                <a:latin typeface="Calibri"/>
              </a:rPr>
              <a:t>oil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7" name="Picture 26" descr="ebfc49f8f1ee2f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23774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076688" y="423367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423367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fry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6177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like icing on your donut?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boil an </a:t>
            </a:r>
            <a:r>
              <a:rPr sz="3700" b="1">
                <a:solidFill>
                  <a:srgbClr val="2A9D8F"/>
                </a:solidFill>
                <a:latin typeface="Calibri"/>
              </a:rPr>
              <a:t>egg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E  ·  5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e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5f6151ebab0aff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db1882884b4fc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595667" cy="823447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986823" y="1957303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473004"/>
            <a:ext cx="3701032" cy="919420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092188" y="2445572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shell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yolk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4736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</a:t>
            </a:r>
            <a:r>
              <a:rPr sz="1500" b="1">
                <a:solidFill>
                  <a:srgbClr val="2A9D8F"/>
                </a:solidFill>
                <a:latin typeface="Calibri"/>
              </a:rPr>
              <a:t>boil</a:t>
            </a:r>
            <a:r>
              <a:rPr sz="1300" b="0">
                <a:solidFill>
                  <a:srgbClr val="3D5A80"/>
                </a:solidFill>
                <a:latin typeface="Calibri"/>
              </a:rPr>
              <a:t> the egg in water.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can also </a:t>
            </a:r>
            <a:r>
              <a:rPr sz="1500" b="1">
                <a:solidFill>
                  <a:srgbClr val="2A9D8F"/>
                </a:solidFill>
                <a:latin typeface="Calibri"/>
              </a:rPr>
              <a:t>fry</a:t>
            </a:r>
            <a:r>
              <a:rPr sz="1300" b="0">
                <a:solidFill>
                  <a:srgbClr val="3D5A80"/>
                </a:solidFill>
                <a:latin typeface="Calibri"/>
              </a:rPr>
              <a:t> an egg in a pan.</a:t>
            </a:r>
          </a:p>
        </p:txBody>
      </p:sp>
      <p:pic>
        <p:nvPicPr>
          <p:cNvPr id="27" name="Picture 26" descr="01cc65f7dbb15ab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23774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076688" y="423367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423367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boil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617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like boiled eggs or fried eggs?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grill the </a:t>
            </a:r>
            <a:r>
              <a:rPr sz="3700" b="1">
                <a:solidFill>
                  <a:srgbClr val="2A9D8F"/>
                </a:solidFill>
                <a:latin typeface="Calibri"/>
              </a:rPr>
              <a:t>fish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F  ·  6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f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920fe1109d2fe9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c98489d5228e1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026385" cy="820289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417541" y="1954145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395581"/>
            <a:ext cx="4600583" cy="996843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991739" y="2368149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fin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tail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45171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cook fish on a </a:t>
            </a:r>
            <a:r>
              <a:rPr sz="1500" b="1">
                <a:solidFill>
                  <a:srgbClr val="2A9D8F"/>
                </a:solidFill>
                <a:latin typeface="Calibri"/>
              </a:rPr>
              <a:t>grill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A barbecue is a kind of </a:t>
            </a:r>
            <a:r>
              <a:rPr sz="1500" b="1">
                <a:solidFill>
                  <a:srgbClr val="2A9D8F"/>
                </a:solidFill>
                <a:latin typeface="Calibri"/>
              </a:rPr>
              <a:t>grill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7" name="Picture 26" descr="1e0eb357d62c563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23774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076688" y="423367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423367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grill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6177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Have you eaten grilled fish?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eat purple </a:t>
            </a:r>
            <a:r>
              <a:rPr sz="3700" b="1">
                <a:solidFill>
                  <a:srgbClr val="2A9D8F"/>
                </a:solidFill>
                <a:latin typeface="Calibri"/>
              </a:rPr>
              <a:t>grape</a:t>
            </a:r>
            <a:r>
              <a:rPr sz="3200" b="0">
                <a:solidFill>
                  <a:srgbClr val="3D5A80"/>
                </a:solidFill>
                <a:latin typeface="Calibri"/>
              </a:rPr>
              <a:t>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G  ·  7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gr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b9513db8998d6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17ed0115c1cf4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597295" cy="1117443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988451" y="2251299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619684"/>
            <a:ext cx="3775285" cy="772740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166441" y="2592252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bunch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seed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31478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Grapes grow in </a:t>
            </a:r>
            <a:r>
              <a:rPr sz="1500" b="1">
                <a:solidFill>
                  <a:srgbClr val="2A9D8F"/>
                </a:solidFill>
                <a:latin typeface="Calibri"/>
              </a:rPr>
              <a:t>sunny</a:t>
            </a:r>
            <a:r>
              <a:rPr sz="1300" b="0">
                <a:solidFill>
                  <a:srgbClr val="3D5A80"/>
                </a:solidFill>
                <a:latin typeface="Calibri"/>
              </a:rPr>
              <a:t> places.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Italy and Spain are famous for </a:t>
            </a:r>
            <a:r>
              <a:rPr sz="1500" b="1">
                <a:solidFill>
                  <a:srgbClr val="2A9D8F"/>
                </a:solidFill>
                <a:latin typeface="Calibri"/>
              </a:rPr>
              <a:t>grapes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7" name="Picture 26" descr="460e09146ebe47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133731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308592" y="324840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like purple or green grapes?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put </a:t>
            </a:r>
            <a:r>
              <a:rPr sz="3700" b="1">
                <a:solidFill>
                  <a:srgbClr val="2A9D8F"/>
                </a:solidFill>
                <a:latin typeface="Calibri"/>
              </a:rPr>
              <a:t>honey</a:t>
            </a:r>
            <a:r>
              <a:rPr sz="3200" b="0">
                <a:solidFill>
                  <a:srgbClr val="3D5A80"/>
                </a:solidFill>
                <a:latin typeface="Calibri"/>
              </a:rPr>
              <a:t> on toast.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H  ·  8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h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240e9146845c0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622e0122950b59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597295" cy="1117443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988451" y="2251299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3133873"/>
            <a:ext cx="3773806" cy="258551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164962" y="3106441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jar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drip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Honey toast needs </a:t>
            </a:r>
            <a:r>
              <a:rPr sz="1500" b="1">
                <a:solidFill>
                  <a:srgbClr val="2A9D8F"/>
                </a:solidFill>
                <a:latin typeface="Calibri"/>
              </a:rPr>
              <a:t>bread</a:t>
            </a:r>
            <a:r>
              <a:rPr sz="1300" b="0">
                <a:solidFill>
                  <a:srgbClr val="3D5A80"/>
                </a:solidFill>
                <a:latin typeface="Calibri"/>
              </a:rPr>
              <a:t>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butter</a:t>
            </a:r>
            <a:r>
              <a:rPr sz="1300" b="0">
                <a:solidFill>
                  <a:srgbClr val="3D5A80"/>
                </a:solidFill>
                <a:latin typeface="Calibri"/>
              </a:rPr>
              <a:t>, and sweet </a:t>
            </a:r>
            <a:r>
              <a:rPr sz="1500" b="1">
                <a:solidFill>
                  <a:srgbClr val="2A9D8F"/>
                </a:solidFill>
                <a:latin typeface="Calibri"/>
              </a:rPr>
              <a:t>honey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4516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516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bread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3764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3764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butter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3012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3012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honey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264261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What do you put honey 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eat cold </a:t>
            </a:r>
            <a:r>
              <a:rPr sz="3700" b="1">
                <a:solidFill>
                  <a:srgbClr val="2A9D8F"/>
                </a:solidFill>
                <a:latin typeface="Calibri"/>
              </a:rPr>
              <a:t>ice cream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I  ·  9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ice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80875167c04b3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1a16317d73886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595010" cy="676579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986166" y="1810435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3134147"/>
            <a:ext cx="3593802" cy="258277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84958" y="3106715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scoop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cone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276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Ice cream is made with </a:t>
            </a:r>
            <a:r>
              <a:rPr sz="1500" b="1">
                <a:solidFill>
                  <a:srgbClr val="2A9D8F"/>
                </a:solidFill>
                <a:latin typeface="Calibri"/>
              </a:rPr>
              <a:t>milk</a:t>
            </a:r>
            <a:r>
              <a:rPr sz="1300" b="0">
                <a:solidFill>
                  <a:srgbClr val="3D5A80"/>
                </a:solidFill>
                <a:latin typeface="Calibri"/>
              </a:rPr>
              <a:t>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sugar</a:t>
            </a:r>
            <a:r>
              <a:rPr sz="1300" b="0">
                <a:solidFill>
                  <a:srgbClr val="3D5A80"/>
                </a:solidFill>
                <a:latin typeface="Calibri"/>
              </a:rPr>
              <a:t>, and sometimes </a:t>
            </a:r>
            <a:r>
              <a:rPr sz="1500" b="1">
                <a:solidFill>
                  <a:srgbClr val="2A9D8F"/>
                </a:solidFill>
                <a:latin typeface="Calibri"/>
              </a:rPr>
              <a:t>fruit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4516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516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milk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3764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3764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sugar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3012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3012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fruit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264261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What flavour of ice cream do you like?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drink fresh </a:t>
            </a:r>
            <a:r>
              <a:rPr sz="3700" b="1">
                <a:solidFill>
                  <a:srgbClr val="2A9D8F"/>
                </a:solidFill>
                <a:latin typeface="Calibri"/>
              </a:rPr>
              <a:t>juice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J  ·  10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ju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5523b1d0af2887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e77b72dc866e6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774035" cy="383444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165191" y="1517300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400043"/>
            <a:ext cx="3596555" cy="992381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87711" y="2372611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straw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glass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Juice needs fresh </a:t>
            </a:r>
            <a:r>
              <a:rPr sz="1500" b="1">
                <a:solidFill>
                  <a:srgbClr val="2A9D8F"/>
                </a:solidFill>
                <a:latin typeface="Calibri"/>
              </a:rPr>
              <a:t>fruit</a:t>
            </a:r>
            <a:r>
              <a:rPr sz="1300" b="0">
                <a:solidFill>
                  <a:srgbClr val="3D5A80"/>
                </a:solidFill>
                <a:latin typeface="Calibri"/>
              </a:rPr>
              <a:t>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a little </a:t>
            </a:r>
            <a:r>
              <a:rPr sz="1500" b="1">
                <a:solidFill>
                  <a:srgbClr val="2A9D8F"/>
                </a:solidFill>
                <a:latin typeface="Calibri"/>
              </a:rPr>
              <a:t>water</a:t>
            </a:r>
            <a:r>
              <a:rPr sz="1300" b="0">
                <a:solidFill>
                  <a:srgbClr val="3D5A80"/>
                </a:solidFill>
                <a:latin typeface="Calibri"/>
              </a:rPr>
              <a:t>, and maybe </a:t>
            </a:r>
            <a:r>
              <a:rPr sz="1500" b="1">
                <a:solidFill>
                  <a:srgbClr val="2A9D8F"/>
                </a:solidFill>
                <a:latin typeface="Calibri"/>
              </a:rPr>
              <a:t>ice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4516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516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fruit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3764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3764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water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3012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3012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264261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Orange juice or apple juice?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peel a green </a:t>
            </a:r>
            <a:r>
              <a:rPr sz="3700" b="1">
                <a:solidFill>
                  <a:srgbClr val="2A9D8F"/>
                </a:solidFill>
                <a:latin typeface="Calibri"/>
              </a:rPr>
              <a:t>kiwi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K  ·  11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kiw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007e476a765a5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42632dc170687a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178176" cy="1114621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569332" y="2248477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399089"/>
            <a:ext cx="3776321" cy="993335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167477" y="2371657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skin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seeds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31478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New Zealand is famous for </a:t>
            </a:r>
            <a:r>
              <a:rPr sz="1500" b="1">
                <a:solidFill>
                  <a:srgbClr val="2A9D8F"/>
                </a:solidFill>
                <a:latin typeface="Calibri"/>
              </a:rPr>
              <a:t>kiwi</a:t>
            </a:r>
            <a:r>
              <a:rPr sz="1300" b="0">
                <a:solidFill>
                  <a:srgbClr val="3D5A80"/>
                </a:solidFill>
                <a:latin typeface="Calibri"/>
              </a:rPr>
              <a:t> fruit.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Kiwis also grow in other </a:t>
            </a:r>
            <a:r>
              <a:rPr sz="1500" b="1">
                <a:solidFill>
                  <a:srgbClr val="2A9D8F"/>
                </a:solidFill>
                <a:latin typeface="Calibri"/>
              </a:rPr>
              <a:t>warm</a:t>
            </a:r>
            <a:r>
              <a:rPr sz="1300" b="0">
                <a:solidFill>
                  <a:srgbClr val="3D5A80"/>
                </a:solidFill>
                <a:latin typeface="Calibri"/>
              </a:rPr>
              <a:t> places.</a:t>
            </a:r>
          </a:p>
        </p:txBody>
      </p:sp>
      <p:pic>
        <p:nvPicPr>
          <p:cNvPr id="27" name="Picture 26" descr="18f02880d7baab3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133731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308592" y="324840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Have you tried a kiwi?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squeeze a yellow </a:t>
            </a:r>
            <a:r>
              <a:rPr sz="3700" b="1">
                <a:solidFill>
                  <a:srgbClr val="2A9D8F"/>
                </a:solidFill>
                <a:latin typeface="Calibri"/>
              </a:rPr>
              <a:t>lemon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L  ·  12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lem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2c5308b68d963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53caa301870d1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176159" cy="821218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567315" y="1955074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619381"/>
            <a:ext cx="3850233" cy="773043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241389" y="2591949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peel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juice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Lemonade needs </a:t>
            </a:r>
            <a:r>
              <a:rPr sz="1500" b="1">
                <a:solidFill>
                  <a:srgbClr val="2A9D8F"/>
                </a:solidFill>
                <a:latin typeface="Calibri"/>
              </a:rPr>
              <a:t>lemon</a:t>
            </a:r>
            <a:r>
              <a:rPr sz="1300" b="0">
                <a:solidFill>
                  <a:srgbClr val="3D5A80"/>
                </a:solidFill>
                <a:latin typeface="Calibri"/>
              </a:rPr>
              <a:t>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water</a:t>
            </a:r>
            <a:r>
              <a:rPr sz="1300" b="0">
                <a:solidFill>
                  <a:srgbClr val="3D5A80"/>
                </a:solidFill>
                <a:latin typeface="Calibri"/>
              </a:rPr>
              <a:t>, and a little </a:t>
            </a:r>
            <a:r>
              <a:rPr sz="1500" b="1">
                <a:solidFill>
                  <a:srgbClr val="2A9D8F"/>
                </a:solidFill>
                <a:latin typeface="Calibri"/>
              </a:rPr>
              <a:t>sugar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4516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516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lemon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3764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3764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water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3012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3012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sugar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264261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Is lemonade sweet or sour?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drink cold </a:t>
            </a:r>
            <a:r>
              <a:rPr sz="3700" b="1">
                <a:solidFill>
                  <a:srgbClr val="2A9D8F"/>
                </a:solidFill>
                <a:latin typeface="Calibri"/>
              </a:rPr>
              <a:t>milk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M  ·  13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mi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9867437e04be3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4d12c0bd3226b6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774210" cy="456881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165366" y="1590737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326526"/>
            <a:ext cx="3596982" cy="1065898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88138" y="2299094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2124" y="204825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" y="2048256"/>
            <a:ext cx="1170432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splash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glass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45171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warm milk in a </a:t>
            </a:r>
            <a:r>
              <a:rPr sz="1500" b="1">
                <a:solidFill>
                  <a:srgbClr val="2A9D8F"/>
                </a:solidFill>
                <a:latin typeface="Calibri"/>
              </a:rPr>
              <a:t>pan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A pan sits on the </a:t>
            </a:r>
            <a:r>
              <a:rPr sz="1500" b="1">
                <a:solidFill>
                  <a:srgbClr val="2A9D8F"/>
                </a:solidFill>
                <a:latin typeface="Calibri"/>
              </a:rPr>
              <a:t>stove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7" name="Picture 26" descr="e6bbd06127fdddc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23774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076688" y="423367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423367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pan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6177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like cold milk or warm milk?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eat long </a:t>
            </a:r>
            <a:r>
              <a:rPr sz="3700" b="1">
                <a:solidFill>
                  <a:srgbClr val="2A9D8F"/>
                </a:solidFill>
                <a:latin typeface="Calibri"/>
              </a:rPr>
              <a:t>noodle</a:t>
            </a:r>
            <a:r>
              <a:rPr sz="3200" b="0">
                <a:solidFill>
                  <a:srgbClr val="3D5A80"/>
                </a:solidFill>
                <a:latin typeface="Calibri"/>
              </a:rPr>
              <a:t>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N  ·  14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nood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50e271597defe2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53ede55ea103e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476183" cy="896281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67339" y="2030137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3134147"/>
            <a:ext cx="3593802" cy="258277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84958" y="3106715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2124" y="204825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" y="2048256"/>
            <a:ext cx="1170432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strand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bowl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45171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</a:t>
            </a:r>
            <a:r>
              <a:rPr sz="1500" b="1">
                <a:solidFill>
                  <a:srgbClr val="2A9D8F"/>
                </a:solidFill>
                <a:latin typeface="Calibri"/>
              </a:rPr>
              <a:t>boil</a:t>
            </a:r>
            <a:r>
              <a:rPr sz="1300" b="0">
                <a:solidFill>
                  <a:srgbClr val="3D5A80"/>
                </a:solidFill>
                <a:latin typeface="Calibri"/>
              </a:rPr>
              <a:t> noodles in hot water.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Then I put them in a </a:t>
            </a:r>
            <a:r>
              <a:rPr sz="1500" b="1">
                <a:solidFill>
                  <a:srgbClr val="2A9D8F"/>
                </a:solidFill>
                <a:latin typeface="Calibri"/>
              </a:rPr>
              <a:t>bowl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7" name="Picture 26" descr="01cc65f7dbb15ab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23774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076688" y="423367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423367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boil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6177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use chopsticks or a fork?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peel a juicy </a:t>
            </a:r>
            <a:r>
              <a:rPr sz="3700" b="1">
                <a:solidFill>
                  <a:srgbClr val="2A9D8F"/>
                </a:solidFill>
                <a:latin typeface="Calibri"/>
              </a:rPr>
              <a:t>orange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O  ·  15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d6ed65285c7ce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b98608a979e15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176159" cy="821218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567315" y="1955074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472288"/>
            <a:ext cx="3850876" cy="920136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242032" y="2444856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peel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279392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279392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segment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31478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Oranges grow in </a:t>
            </a:r>
            <a:r>
              <a:rPr sz="1500" b="1">
                <a:solidFill>
                  <a:srgbClr val="2A9D8F"/>
                </a:solidFill>
                <a:latin typeface="Calibri"/>
              </a:rPr>
              <a:t>warm</a:t>
            </a:r>
            <a:r>
              <a:rPr sz="1300" b="0">
                <a:solidFill>
                  <a:srgbClr val="3D5A80"/>
                </a:solidFill>
                <a:latin typeface="Calibri"/>
              </a:rPr>
              <a:t> sunny places.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Spain is famous for sweet </a:t>
            </a:r>
            <a:r>
              <a:rPr sz="1500" b="1">
                <a:solidFill>
                  <a:srgbClr val="2A9D8F"/>
                </a:solidFill>
                <a:latin typeface="Calibri"/>
              </a:rPr>
              <a:t>oranges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7" name="Picture 26" descr="576b446be9d359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133731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308592" y="324840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Can you peel an orange by yourself?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eat hot </a:t>
            </a:r>
            <a:r>
              <a:rPr sz="3700" b="1">
                <a:solidFill>
                  <a:srgbClr val="2A9D8F"/>
                </a:solidFill>
                <a:latin typeface="Calibri"/>
              </a:rPr>
              <a:t>pizza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P  ·  16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73ac5ec8d6e583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23182e92bce77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596037" cy="896912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987193" y="2030768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3134147"/>
            <a:ext cx="3593802" cy="258277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84958" y="3106715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2124" y="204825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" y="2048256"/>
            <a:ext cx="1170432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cheese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crust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45171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bake pizza in an </a:t>
            </a:r>
            <a:r>
              <a:rPr sz="1500" b="1">
                <a:solidFill>
                  <a:srgbClr val="2A9D8F"/>
                </a:solidFill>
                <a:latin typeface="Calibri"/>
              </a:rPr>
              <a:t>oven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 oven gets very </a:t>
            </a:r>
            <a:r>
              <a:rPr sz="1500" b="1">
                <a:solidFill>
                  <a:srgbClr val="2A9D8F"/>
                </a:solidFill>
                <a:latin typeface="Calibri"/>
              </a:rPr>
              <a:t>hot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7" name="Picture 26" descr="82b27425115b779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23774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076688" y="423367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423367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oven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6177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What toppings do you like on pizza?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cook white </a:t>
            </a:r>
            <a:r>
              <a:rPr sz="3700" b="1">
                <a:solidFill>
                  <a:srgbClr val="2A9D8F"/>
                </a:solidFill>
                <a:latin typeface="Calibri"/>
              </a:rPr>
              <a:t>rice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R  ·  17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6bdbafd43e60a1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48eff60935375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476183" cy="896281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67339" y="2030137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950761"/>
            <a:ext cx="3594205" cy="441663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85361" y="2923329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grain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bowl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4736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cook rice in a </a:t>
            </a:r>
            <a:r>
              <a:rPr sz="1500" b="1">
                <a:solidFill>
                  <a:srgbClr val="2A9D8F"/>
                </a:solidFill>
                <a:latin typeface="Calibri"/>
              </a:rPr>
              <a:t>pot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add water and put on the </a:t>
            </a:r>
            <a:r>
              <a:rPr sz="1500" b="1">
                <a:solidFill>
                  <a:srgbClr val="2A9D8F"/>
                </a:solidFill>
                <a:latin typeface="Calibri"/>
              </a:rPr>
              <a:t>lid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7" name="Picture 26" descr="1f31101e7b568fa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23774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076688" y="423367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423367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pot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617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eat rice with a spoon or chopsticks?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eat warm </a:t>
            </a:r>
            <a:r>
              <a:rPr sz="3700" b="1">
                <a:solidFill>
                  <a:srgbClr val="2A9D8F"/>
                </a:solidFill>
                <a:latin typeface="Calibri"/>
              </a:rPr>
              <a:t>soup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S  ·  18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s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5cd66b2ea7836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56eddb6f7b6620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4300158" cy="826289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691314" y="1960145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620457"/>
            <a:ext cx="3595424" cy="771967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86580" y="2593025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spoon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bowl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45171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cook soup in a big </a:t>
            </a:r>
            <a:r>
              <a:rPr sz="1500" b="1">
                <a:solidFill>
                  <a:srgbClr val="2A9D8F"/>
                </a:solidFill>
                <a:latin typeface="Calibri"/>
              </a:rPr>
              <a:t>pot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stir it with a </a:t>
            </a:r>
            <a:r>
              <a:rPr sz="1500" b="1">
                <a:solidFill>
                  <a:srgbClr val="2A9D8F"/>
                </a:solidFill>
                <a:latin typeface="Calibri"/>
              </a:rPr>
              <a:t>spoon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7" name="Picture 26" descr="1f31101e7b568fa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23774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076688" y="423367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423367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pot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6177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like hot soup?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cut a red </a:t>
            </a:r>
            <a:r>
              <a:rPr sz="3700" b="1">
                <a:solidFill>
                  <a:srgbClr val="2A9D8F"/>
                </a:solidFill>
                <a:latin typeface="Calibri"/>
              </a:rPr>
              <a:t>tomato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T  ·  19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toma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8922976ed8c5ba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e3ab27656ffe9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593894" cy="309687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985050" y="1443543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619381"/>
            <a:ext cx="3850233" cy="773043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241389" y="2591949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slice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31478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Tomatoes first grew in the warm </a:t>
            </a:r>
            <a:r>
              <a:rPr sz="1500" b="1">
                <a:solidFill>
                  <a:srgbClr val="2A9D8F"/>
                </a:solidFill>
                <a:latin typeface="Calibri"/>
              </a:rPr>
              <a:t>Americas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Now people grow tomatoes all over the </a:t>
            </a:r>
            <a:r>
              <a:rPr sz="1500" b="1">
                <a:solidFill>
                  <a:srgbClr val="2A9D8F"/>
                </a:solidFill>
                <a:latin typeface="Calibri"/>
              </a:rPr>
              <a:t>world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7" name="Picture 26" descr="6022b82c70df7f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133731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308592" y="324840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like tomatoes on pizza?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eat soft </a:t>
            </a:r>
            <a:r>
              <a:rPr sz="3700" b="1">
                <a:solidFill>
                  <a:srgbClr val="2A9D8F"/>
                </a:solidFill>
                <a:latin typeface="Calibri"/>
              </a:rPr>
              <a:t>udon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U  ·  20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ud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e319da77d7e28d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591ac170a76e17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596037" cy="896912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987193" y="2030768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840695"/>
            <a:ext cx="3594543" cy="551729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85699" y="2813263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2048256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048256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noodles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broth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45171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</a:t>
            </a:r>
            <a:r>
              <a:rPr sz="1500" b="1">
                <a:solidFill>
                  <a:srgbClr val="2A9D8F"/>
                </a:solidFill>
                <a:latin typeface="Calibri"/>
              </a:rPr>
              <a:t>boil</a:t>
            </a:r>
            <a:r>
              <a:rPr sz="1300" b="0">
                <a:solidFill>
                  <a:srgbClr val="3D5A80"/>
                </a:solidFill>
                <a:latin typeface="Calibri"/>
              </a:rPr>
              <a:t> soft udon noodles.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Udon is a thick noodle from </a:t>
            </a:r>
            <a:r>
              <a:rPr sz="1500" b="1">
                <a:solidFill>
                  <a:srgbClr val="2A9D8F"/>
                </a:solidFill>
                <a:latin typeface="Calibri"/>
              </a:rPr>
              <a:t>Japan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7" name="Picture 26" descr="01cc65f7dbb15ab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23774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076688" y="423367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423367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boil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6177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Have you tried udon soup?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smell sweet </a:t>
            </a:r>
            <a:r>
              <a:rPr sz="3700" b="1">
                <a:solidFill>
                  <a:srgbClr val="2A9D8F"/>
                </a:solidFill>
                <a:latin typeface="Calibri"/>
              </a:rPr>
              <a:t>vanilla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V  ·  21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vanil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7a74c9cb0d259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983ea4faa84d7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252995" cy="1115169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644151" y="2249025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471621"/>
            <a:ext cx="4000738" cy="920803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391894" y="2444189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pod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cake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Vanilla cake needs </a:t>
            </a:r>
            <a:r>
              <a:rPr sz="1500" b="1">
                <a:solidFill>
                  <a:srgbClr val="2A9D8F"/>
                </a:solidFill>
                <a:latin typeface="Calibri"/>
              </a:rPr>
              <a:t>flour</a:t>
            </a:r>
            <a:r>
              <a:rPr sz="1300" b="0">
                <a:solidFill>
                  <a:srgbClr val="3D5A80"/>
                </a:solidFill>
                <a:latin typeface="Calibri"/>
              </a:rPr>
              <a:t>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eggs</a:t>
            </a:r>
            <a:r>
              <a:rPr sz="1300" b="0">
                <a:solidFill>
                  <a:srgbClr val="3D5A80"/>
                </a:solidFill>
                <a:latin typeface="Calibri"/>
              </a:rPr>
              <a:t>, </a:t>
            </a:r>
            <a:r>
              <a:rPr sz="1500" b="1">
                <a:solidFill>
                  <a:srgbClr val="2A9D8F"/>
                </a:solidFill>
                <a:latin typeface="Calibri"/>
              </a:rPr>
              <a:t>sugar</a:t>
            </a:r>
            <a:r>
              <a:rPr sz="1300" b="0">
                <a:solidFill>
                  <a:srgbClr val="3D5A80"/>
                </a:solidFill>
                <a:latin typeface="Calibri"/>
              </a:rPr>
              <a:t>, and </a:t>
            </a:r>
            <a:r>
              <a:rPr sz="1500" b="1">
                <a:solidFill>
                  <a:srgbClr val="2A9D8F"/>
                </a:solidFill>
                <a:latin typeface="Calibri"/>
              </a:rPr>
              <a:t>vanilla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4516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516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flour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3764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3764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eggs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3012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3012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sugar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264261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like vanilla or chocolate?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eat juicy </a:t>
            </a:r>
            <a:r>
              <a:rPr sz="3700" b="1">
                <a:solidFill>
                  <a:srgbClr val="2A9D8F"/>
                </a:solidFill>
                <a:latin typeface="Calibri"/>
              </a:rPr>
              <a:t>watermelon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W  ·  22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watermel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2cb451c0deb28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9be1ebb7a02c16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777001" cy="1118489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168157" y="2252345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475973"/>
            <a:ext cx="3176763" cy="916451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567919" y="2448541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seeds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rind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31478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Watermelons love </a:t>
            </a:r>
            <a:r>
              <a:rPr sz="1500" b="1">
                <a:solidFill>
                  <a:srgbClr val="2A9D8F"/>
                </a:solidFill>
                <a:latin typeface="Calibri"/>
              </a:rPr>
              <a:t>hot</a:t>
            </a:r>
            <a:r>
              <a:rPr sz="1300" b="0">
                <a:solidFill>
                  <a:srgbClr val="3D5A80"/>
                </a:solidFill>
                <a:latin typeface="Calibri"/>
              </a:rPr>
              <a:t> sunny weather.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They first grew in warm parts of </a:t>
            </a:r>
            <a:r>
              <a:rPr sz="1500" b="1">
                <a:solidFill>
                  <a:srgbClr val="2A9D8F"/>
                </a:solidFill>
                <a:latin typeface="Calibri"/>
              </a:rPr>
              <a:t>Africa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7" name="Picture 26" descr="8e792df45cbadf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133731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308592" y="324840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spit out the seeds?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eat creamy </a:t>
            </a:r>
            <a:r>
              <a:rPr sz="3700" b="1">
                <a:solidFill>
                  <a:srgbClr val="2A9D8F"/>
                </a:solidFill>
                <a:latin typeface="Calibri"/>
              </a:rPr>
              <a:t>yogurt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Y  ·  23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yogu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9c8dac94815581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2b3bfc80fddd3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999799" cy="678045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390955" y="1811901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621014"/>
            <a:ext cx="3475532" cy="771410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866688" y="2593582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spoon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bowl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A parfait needs </a:t>
            </a:r>
            <a:r>
              <a:rPr sz="1500" b="1">
                <a:solidFill>
                  <a:srgbClr val="2A9D8F"/>
                </a:solidFill>
                <a:latin typeface="Calibri"/>
              </a:rPr>
              <a:t>yogurt</a:t>
            </a:r>
            <a:r>
              <a:rPr sz="1300" b="0">
                <a:solidFill>
                  <a:srgbClr val="3D5A80"/>
                </a:solidFill>
                <a:latin typeface="Calibri"/>
              </a:rPr>
              <a:t>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fresh </a:t>
            </a:r>
            <a:r>
              <a:rPr sz="1500" b="1">
                <a:solidFill>
                  <a:srgbClr val="2A9D8F"/>
                </a:solidFill>
                <a:latin typeface="Calibri"/>
              </a:rPr>
              <a:t>fruit</a:t>
            </a:r>
            <a:r>
              <a:rPr sz="1300" b="0">
                <a:solidFill>
                  <a:srgbClr val="3D5A80"/>
                </a:solidFill>
                <a:latin typeface="Calibri"/>
              </a:rPr>
              <a:t>, and a little </a:t>
            </a:r>
            <a:r>
              <a:rPr sz="1500" b="1">
                <a:solidFill>
                  <a:srgbClr val="2A9D8F"/>
                </a:solidFill>
                <a:latin typeface="Calibri"/>
              </a:rPr>
              <a:t>honey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4516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516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yogurt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3764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3764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fruit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30128" y="1865376"/>
            <a:ext cx="701040" cy="640080"/>
          </a:xfrm>
          <a:prstGeom prst="roundRect">
            <a:avLst>
              <a:gd name="adj" fmla="val 30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30128" y="2002536"/>
            <a:ext cx="70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honey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264261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What fruit do you put in yogurt?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182880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roast green </a:t>
            </a:r>
            <a:r>
              <a:rPr sz="3700" b="1">
                <a:solidFill>
                  <a:srgbClr val="2A9D8F"/>
                </a:solidFill>
                <a:latin typeface="Calibri"/>
              </a:rPr>
              <a:t>zucchini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A to Z Foods  ·  Z  ·  24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zucch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cf9d5fd075f97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" y="2551176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92bc2dca01dd8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15184"/>
            <a:ext cx="155448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18588" y="1161288"/>
            <a:ext cx="3251056" cy="821654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642212" y="1955510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418588" y="2471621"/>
            <a:ext cx="4000738" cy="920803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391894" y="2444189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204825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204825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skin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slice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45171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</a:t>
            </a:r>
            <a:r>
              <a:rPr sz="1500" b="1">
                <a:solidFill>
                  <a:srgbClr val="2A9D8F"/>
                </a:solidFill>
                <a:latin typeface="Calibri"/>
              </a:rPr>
              <a:t>roast</a:t>
            </a:r>
            <a:r>
              <a:rPr sz="1300" b="0">
                <a:solidFill>
                  <a:srgbClr val="3D5A80"/>
                </a:solidFill>
                <a:latin typeface="Calibri"/>
              </a:rPr>
              <a:t> zucchini in the oven.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Roast means cook with dry heat, like </a:t>
            </a:r>
            <a:r>
              <a:rPr sz="1500" b="1">
                <a:solidFill>
                  <a:srgbClr val="2A9D8F"/>
                </a:solidFill>
                <a:latin typeface="Calibri"/>
              </a:rPr>
              <a:t>bake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7" name="Picture 26" descr="b6c5ffc21078ff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23774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076688" y="423367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423367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roast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6177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Have you tried roasted zucchini?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s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worksheet-banner-atz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"/>
            <a:ext cx="11460175" cy="143252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0" y="502920"/>
            <a:ext cx="6339535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594360"/>
            <a:ext cx="6339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Calibri"/>
              </a:rPr>
              <a:t>Worksheet 1 · Circle &amp; Match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11460175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A9D8F"/>
                </a:solidFill>
                <a:latin typeface="Calibri"/>
              </a:rPr>
              <a:t>Read the sentence. Draw a line to the right word. Then circle the word.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1.  I like a red ______.</a:t>
            </a:r>
          </a:p>
        </p:txBody>
      </p:sp>
      <p:sp>
        <p:nvSpPr>
          <p:cNvPr id="9" name="Oval 8"/>
          <p:cNvSpPr/>
          <p:nvPr/>
        </p:nvSpPr>
        <p:spPr>
          <a:xfrm>
            <a:off x="6629400" y="2414016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41080" y="2414016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06840" y="2286000"/>
            <a:ext cx="2103120" cy="457200"/>
          </a:xfrm>
          <a:prstGeom prst="roundRect">
            <a:avLst>
              <a:gd name="adj" fmla="val 45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3408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pizza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4436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2.  I bake fresh ______.</a:t>
            </a:r>
          </a:p>
        </p:txBody>
      </p:sp>
      <p:sp>
        <p:nvSpPr>
          <p:cNvPr id="14" name="Oval 13"/>
          <p:cNvSpPr/>
          <p:nvPr/>
        </p:nvSpPr>
        <p:spPr>
          <a:xfrm>
            <a:off x="6629400" y="3072384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41080" y="3072384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06840" y="2944368"/>
            <a:ext cx="2103120" cy="457200"/>
          </a:xfrm>
          <a:prstGeom prst="roundRect">
            <a:avLst>
              <a:gd name="adj" fmla="val 45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29992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zucchini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02736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3.  I boil an ______.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3730752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41080" y="3730752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06840" y="3602736"/>
            <a:ext cx="2103120" cy="457200"/>
          </a:xfrm>
          <a:prstGeom prst="roundRect">
            <a:avLst>
              <a:gd name="adj" fmla="val 45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bread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6110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4.  I eat hot ______.</a:t>
            </a:r>
          </a:p>
        </p:txBody>
      </p:sp>
      <p:sp>
        <p:nvSpPr>
          <p:cNvPr id="24" name="Oval 23"/>
          <p:cNvSpPr/>
          <p:nvPr/>
        </p:nvSpPr>
        <p:spPr>
          <a:xfrm>
            <a:off x="6629400" y="4389120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41080" y="4389120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06840" y="4261104"/>
            <a:ext cx="2103120" cy="457200"/>
          </a:xfrm>
          <a:prstGeom prst="roundRect">
            <a:avLst>
              <a:gd name="adj" fmla="val 45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43159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apple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91947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5.  I drink cold ______.</a:t>
            </a:r>
          </a:p>
        </p:txBody>
      </p:sp>
      <p:sp>
        <p:nvSpPr>
          <p:cNvPr id="29" name="Oval 28"/>
          <p:cNvSpPr/>
          <p:nvPr/>
        </p:nvSpPr>
        <p:spPr>
          <a:xfrm>
            <a:off x="6629400" y="5047488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41080" y="5047488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06840" y="4919472"/>
            <a:ext cx="2103120" cy="457200"/>
          </a:xfrm>
          <a:prstGeom prst="roundRect">
            <a:avLst>
              <a:gd name="adj" fmla="val 45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49743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milk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778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6.  I roast green ______.</a:t>
            </a:r>
          </a:p>
        </p:txBody>
      </p:sp>
      <p:sp>
        <p:nvSpPr>
          <p:cNvPr id="34" name="Oval 33"/>
          <p:cNvSpPr/>
          <p:nvPr/>
        </p:nvSpPr>
        <p:spPr>
          <a:xfrm>
            <a:off x="6629400" y="5705856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5705856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06840" y="5577840"/>
            <a:ext cx="2103120" cy="457200"/>
          </a:xfrm>
          <a:prstGeom prst="roundRect">
            <a:avLst>
              <a:gd name="adj" fmla="val 45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56327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egg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A to Z Foods · Worksheet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s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worksheet-banner-atz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"/>
            <a:ext cx="11460175" cy="143252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0" y="502920"/>
            <a:ext cx="6339535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594360"/>
            <a:ext cx="6339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Calibri"/>
              </a:rPr>
              <a:t>Worksheet 2 · Alphabet Find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7498079" cy="4709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45caa72562e7a7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691640"/>
            <a:ext cx="7223760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92440" y="1554480"/>
            <a:ext cx="3657600" cy="4709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91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Calibri"/>
              </a:rPr>
              <a:t>Find 8 foods. Circle them.</a:t>
            </a:r>
          </a:p>
        </p:txBody>
      </p:sp>
      <p:sp>
        <p:nvSpPr>
          <p:cNvPr id="10" name="Oval 9"/>
          <p:cNvSpPr/>
          <p:nvPr/>
        </p:nvSpPr>
        <p:spPr>
          <a:xfrm>
            <a:off x="8284464" y="2221992"/>
            <a:ext cx="164592" cy="164592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194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A — apple</a:t>
            </a:r>
          </a:p>
        </p:txBody>
      </p:sp>
      <p:sp>
        <p:nvSpPr>
          <p:cNvPr id="12" name="Oval 11"/>
          <p:cNvSpPr/>
          <p:nvPr/>
        </p:nvSpPr>
        <p:spPr>
          <a:xfrm>
            <a:off x="8284464" y="2660904"/>
            <a:ext cx="164592" cy="164592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6334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B — bread</a:t>
            </a:r>
          </a:p>
        </p:txBody>
      </p:sp>
      <p:sp>
        <p:nvSpPr>
          <p:cNvPr id="14" name="Oval 13"/>
          <p:cNvSpPr/>
          <p:nvPr/>
        </p:nvSpPr>
        <p:spPr>
          <a:xfrm>
            <a:off x="8284464" y="3099816"/>
            <a:ext cx="164592" cy="164592"/>
          </a:xfrm>
          <a:prstGeom prst="ellipse">
            <a:avLst/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0723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E — egg</a:t>
            </a:r>
          </a:p>
        </p:txBody>
      </p:sp>
      <p:sp>
        <p:nvSpPr>
          <p:cNvPr id="16" name="Oval 15"/>
          <p:cNvSpPr/>
          <p:nvPr/>
        </p:nvSpPr>
        <p:spPr>
          <a:xfrm>
            <a:off x="8284464" y="3538728"/>
            <a:ext cx="164592" cy="164592"/>
          </a:xfrm>
          <a:prstGeom prst="ellipse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5112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F — fish</a:t>
            </a:r>
          </a:p>
        </p:txBody>
      </p:sp>
      <p:sp>
        <p:nvSpPr>
          <p:cNvPr id="18" name="Oval 17"/>
          <p:cNvSpPr/>
          <p:nvPr/>
        </p:nvSpPr>
        <p:spPr>
          <a:xfrm>
            <a:off x="8284464" y="3977640"/>
            <a:ext cx="164592" cy="164592"/>
          </a:xfrm>
          <a:prstGeom prst="ellipse">
            <a:avLst/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39502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M — milk</a:t>
            </a:r>
          </a:p>
        </p:txBody>
      </p:sp>
      <p:sp>
        <p:nvSpPr>
          <p:cNvPr id="20" name="Oval 19"/>
          <p:cNvSpPr/>
          <p:nvPr/>
        </p:nvSpPr>
        <p:spPr>
          <a:xfrm>
            <a:off x="8284464" y="4416552"/>
            <a:ext cx="164592" cy="164592"/>
          </a:xfrm>
          <a:prstGeom prst="ellipse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4389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P — pizza</a:t>
            </a:r>
          </a:p>
        </p:txBody>
      </p:sp>
      <p:sp>
        <p:nvSpPr>
          <p:cNvPr id="22" name="Oval 21"/>
          <p:cNvSpPr/>
          <p:nvPr/>
        </p:nvSpPr>
        <p:spPr>
          <a:xfrm>
            <a:off x="8284464" y="4855464"/>
            <a:ext cx="164592" cy="164592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48280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R — rice</a:t>
            </a:r>
          </a:p>
        </p:txBody>
      </p:sp>
      <p:sp>
        <p:nvSpPr>
          <p:cNvPr id="24" name="Oval 23"/>
          <p:cNvSpPr/>
          <p:nvPr/>
        </p:nvSpPr>
        <p:spPr>
          <a:xfrm>
            <a:off x="8284464" y="5294376"/>
            <a:ext cx="164592" cy="164592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52669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Z — zucchini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A to Z Foods · Worksheet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s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worksheet-banner-atz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"/>
            <a:ext cx="11460175" cy="143252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0" y="502920"/>
            <a:ext cx="6339535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594360"/>
            <a:ext cx="6339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Calibri"/>
              </a:rPr>
              <a:t>Category Game · Food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A9D8F"/>
                </a:solidFill>
                <a:latin typeface="Calibri"/>
              </a:rPr>
              <a:t>Foods from this book belong in groups. Look, say, and sort!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36118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3911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Fruit</a:t>
            </a:r>
          </a:p>
        </p:txBody>
      </p:sp>
      <p:pic>
        <p:nvPicPr>
          <p:cNvPr id="10" name="Picture 9" descr="bbbf65f4b39a2c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2560320"/>
            <a:ext cx="1143000" cy="1143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97680" y="1965960"/>
            <a:ext cx="36118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96596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03911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Vegetable</a:t>
            </a:r>
          </a:p>
        </p:txBody>
      </p:sp>
      <p:pic>
        <p:nvPicPr>
          <p:cNvPr id="14" name="Picture 13" descr="774fd335c8ef04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560320"/>
            <a:ext cx="1143000" cy="1143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138160" y="1965960"/>
            <a:ext cx="36118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96596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03911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Grain</a:t>
            </a:r>
          </a:p>
        </p:txBody>
      </p:sp>
      <p:pic>
        <p:nvPicPr>
          <p:cNvPr id="18" name="Picture 17" descr="0aea2f1866fce9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2560320"/>
            <a:ext cx="1143000" cy="11430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57200" y="4114800"/>
            <a:ext cx="36118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1148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8795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Protein</a:t>
            </a:r>
          </a:p>
        </p:txBody>
      </p:sp>
      <p:pic>
        <p:nvPicPr>
          <p:cNvPr id="22" name="Picture 21" descr="86cd66a88d66fe4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640" y="4709160"/>
            <a:ext cx="1143000" cy="1143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297680" y="4114800"/>
            <a:ext cx="36118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97680" y="41148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18795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Sweet treat</a:t>
            </a:r>
          </a:p>
        </p:txBody>
      </p:sp>
      <p:pic>
        <p:nvPicPr>
          <p:cNvPr id="26" name="Picture 25" descr="a27b87090f78c0f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4709160"/>
            <a:ext cx="1143000" cy="1143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A to Z Foods · Category Game 1 /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s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worksheet-banner-atz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"/>
            <a:ext cx="11460175" cy="143252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0" y="502920"/>
            <a:ext cx="6339535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594360"/>
            <a:ext cx="6339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Calibri"/>
              </a:rPr>
              <a:t>Category Game · Sort the 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A8A"/>
                </a:solidFill>
                <a:latin typeface="Calibri"/>
              </a:rPr>
              <a:t>Write or tick each food under its group. (Answers in Teacher-Guide.)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37033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828800"/>
            <a:ext cx="3703320" cy="41148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7452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Fruit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3429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apple, grape, kiwi, lemon, orange, watermelon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828800"/>
            <a:ext cx="37033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60" y="1828800"/>
            <a:ext cx="3703320" cy="41148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87452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Vegetable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31720"/>
            <a:ext cx="3429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carrot, tomato, zucchini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7033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703320" cy="41148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87452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Grain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31720"/>
            <a:ext cx="3429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bread, noodle, rice, udon, pizza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023360"/>
            <a:ext cx="37033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4023360"/>
            <a:ext cx="3703320" cy="411480"/>
          </a:xfrm>
          <a:prstGeom prst="roundRect">
            <a:avLst>
              <a:gd name="adj" fmla="val 12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06908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Protein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26280"/>
            <a:ext cx="3429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egg, fish, milk, yogurt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4023360"/>
            <a:ext cx="37033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51960" y="4023360"/>
            <a:ext cx="3703320" cy="41148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406908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Sweet treat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526280"/>
            <a:ext cx="3429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donut, honey, ice cream, juice, vanilla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A to Z Foods · Category Game 2 /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5760" y="228600"/>
            <a:ext cx="2377440" cy="411480"/>
          </a:xfrm>
          <a:prstGeom prst="roundRect">
            <a:avLst>
              <a:gd name="adj" fmla="val 40000"/>
            </a:avLst>
          </a:prstGeom>
          <a:solidFill>
            <a:srgbClr val="F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OPTIONAL EXTRA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28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Cook 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A8A"/>
                </a:solidFill>
                <a:latin typeface="Calibri"/>
              </a:rPr>
              <a:t>Match each food picture to a cooking method: boil / fry / bake / grill / roast. Uses foods whose card angle was cook_method or cook_with.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11430000" cy="4846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Draw a line from each food to how we cook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1965960" cy="1371600"/>
          </a:xfrm>
          <a:prstGeom prst="roundRect">
            <a:avLst>
              <a:gd name="adj" fmla="val 15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edb7fd8fe70ce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03120"/>
            <a:ext cx="132588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632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boil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011680"/>
            <a:ext cx="1965960" cy="1371600"/>
          </a:xfrm>
          <a:prstGeom prst="roundRect">
            <a:avLst>
              <a:gd name="adj" fmla="val 15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73a22f0407ec9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2103120"/>
            <a:ext cx="132588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34640" y="30632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fry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011680"/>
            <a:ext cx="1965960" cy="1371600"/>
          </a:xfrm>
          <a:prstGeom prst="roundRect">
            <a:avLst>
              <a:gd name="adj" fmla="val 15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1e95ec5436276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2103120"/>
            <a:ext cx="1325880" cy="914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29200" y="30632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bake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011680"/>
            <a:ext cx="1965960" cy="1371600"/>
          </a:xfrm>
          <a:prstGeom prst="roundRect">
            <a:avLst>
              <a:gd name="adj" fmla="val 15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01076dceef563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2103120"/>
            <a:ext cx="132588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23760" y="30632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grill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2011680"/>
            <a:ext cx="1965960" cy="1371600"/>
          </a:xfrm>
          <a:prstGeom prst="roundRect">
            <a:avLst>
              <a:gd name="adj" fmla="val 15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bdd5c245858063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8360" y="2103120"/>
            <a:ext cx="1325880" cy="914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18320" y="30632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roast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749039"/>
            <a:ext cx="3108960" cy="914400"/>
          </a:xfrm>
          <a:prstGeom prst="roundRect">
            <a:avLst>
              <a:gd name="adj" fmla="val 2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61bd0c4af08dc07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4440" y="3840479"/>
            <a:ext cx="731520" cy="7315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03120" y="40233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egg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749039"/>
            <a:ext cx="3108960" cy="914400"/>
          </a:xfrm>
          <a:prstGeom prst="roundRect">
            <a:avLst>
              <a:gd name="adj" fmla="val 20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718b50f9184fa4e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3840479"/>
            <a:ext cx="731520" cy="7315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77840" y="40233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donut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749039"/>
            <a:ext cx="3108960" cy="914400"/>
          </a:xfrm>
          <a:prstGeom prst="roundRect">
            <a:avLst>
              <a:gd name="adj" fmla="val 20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9a71be3c7518712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3880" y="3840479"/>
            <a:ext cx="731520" cy="7315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052560" y="40233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bread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846319"/>
            <a:ext cx="3108960" cy="914400"/>
          </a:xfrm>
          <a:prstGeom prst="roundRect">
            <a:avLst>
              <a:gd name="adj" fmla="val 20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5b62e4be5de402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4440" y="4937759"/>
            <a:ext cx="731520" cy="7315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103120" y="51206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fish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4846319"/>
            <a:ext cx="3108960" cy="914400"/>
          </a:xfrm>
          <a:prstGeom prst="roundRect">
            <a:avLst>
              <a:gd name="adj" fmla="val 20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39772bef90d7f67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9160" y="4937759"/>
            <a:ext cx="731520" cy="7315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577840" y="51206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zucchini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846319"/>
            <a:ext cx="3108960" cy="914400"/>
          </a:xfrm>
          <a:prstGeom prst="roundRect">
            <a:avLst>
              <a:gd name="adj" fmla="val 20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d6a84015fff433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83880" y="4937759"/>
            <a:ext cx="731520" cy="7315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052560" y="51206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noodle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A to Z Foods · OPTIONAL EXTRA · Cook Match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5760" y="228600"/>
            <a:ext cx="2377440" cy="411480"/>
          </a:xfrm>
          <a:prstGeom prst="roundRect">
            <a:avLst>
              <a:gd name="adj" fmla="val 40000"/>
            </a:avLst>
          </a:prstGeom>
          <a:solidFill>
            <a:srgbClr val="F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OPTIONAL EXTRA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28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Where in the World?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A8A"/>
                </a:solidFill>
                <a:latin typeface="Calibri"/>
              </a:rPr>
              <a:t>Friendly soft map + country/place chips. Match origin-angle foods (apple, grape, kiwi, orange, tomato, watermelon) to warm/cool/sunny place labels — light and age-appropriate, no politics.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7315200" cy="4846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60ebcf931160c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704088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0" y="1371600"/>
            <a:ext cx="3931920" cy="4846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Calibri"/>
              </a:rPr>
              <a:t>Match the food to a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D5A80"/>
                </a:solidFill>
                <a:latin typeface="Calibri"/>
              </a:rPr>
              <a:t>kiwi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0116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→  New Zealand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651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D5A80"/>
                </a:solidFill>
                <a:latin typeface="Calibri"/>
              </a:rPr>
              <a:t>orange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651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→  sunny Spain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291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D5A80"/>
                </a:solidFill>
                <a:latin typeface="Calibri"/>
              </a:rPr>
              <a:t>grape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291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→  Italy / Spain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931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D5A80"/>
                </a:solidFill>
                <a:latin typeface="Calibri"/>
              </a:rPr>
              <a:t>tomato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931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→  the Americas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D5A80"/>
                </a:solidFill>
                <a:latin typeface="Calibri"/>
              </a:rPr>
              <a:t>watermelon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572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→  warm Africa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212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D5A80"/>
                </a:solidFill>
                <a:latin typeface="Calibri"/>
              </a:rPr>
              <a:t>apple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5212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→  cool countries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A to Z Foods · OPTIONAL EXTRA · Where in the World?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5760" y="228600"/>
            <a:ext cx="2377440" cy="411480"/>
          </a:xfrm>
          <a:prstGeom prst="roundRect">
            <a:avLst>
              <a:gd name="adj" fmla="val 40000"/>
            </a:avLst>
          </a:prstGeom>
          <a:solidFill>
            <a:srgbClr val="F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OPTIONAL EXTRA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28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Build a Dish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A8A"/>
                </a:solidFill>
                <a:latin typeface="Calibri"/>
              </a:rPr>
              <a:t>Two mini kitchens: circle the ingredients that go into pizza OR lemonade OR honey toast. Drawn from ingredients-angle cards.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370332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3703320" cy="50292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Build a pizza</a:t>
            </a:r>
          </a:p>
        </p:txBody>
      </p:sp>
      <p:pic>
        <p:nvPicPr>
          <p:cNvPr id="10" name="Picture 9" descr="c24e00f8dee410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103120"/>
            <a:ext cx="18288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1148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Circle what you need: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2628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dough · cheese · tomato · toppings
(+ maybe salt / oil — teacher choice)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417320"/>
            <a:ext cx="370332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1417320"/>
            <a:ext cx="3703320" cy="50292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481328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Make lemonade</a:t>
            </a:r>
          </a:p>
        </p:txBody>
      </p:sp>
      <p:pic>
        <p:nvPicPr>
          <p:cNvPr id="16" name="Picture 15" descr="da2285f4023ccb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2103120"/>
            <a:ext cx="182880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34840" y="41148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Circle what you need: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52628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lemon · water · sugar
(+ maybe salt / oil — teacher choice)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417320"/>
            <a:ext cx="370332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1417320"/>
            <a:ext cx="3703320" cy="50292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481328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Make honey toast</a:t>
            </a:r>
          </a:p>
        </p:txBody>
      </p:sp>
      <p:pic>
        <p:nvPicPr>
          <p:cNvPr id="22" name="Picture 21" descr="b1b23105883f51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2103120"/>
            <a:ext cx="1828800" cy="1828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21040" y="41148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Circle what you need: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52628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bread · butter · honey
(+ maybe salt / oil — teacher choice)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A to Z Foods · OPTIONAL EXTRA · Build a Dish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5760" y="228600"/>
            <a:ext cx="2377440" cy="411480"/>
          </a:xfrm>
          <a:prstGeom prst="roundRect">
            <a:avLst>
              <a:gd name="adj" fmla="val 40000"/>
            </a:avLst>
          </a:prstGeom>
          <a:solidFill>
            <a:srgbClr val="F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OPTIONAL EXTRA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28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Alphabet Picnic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A8A"/>
                </a:solidFill>
                <a:latin typeface="Calibri"/>
              </a:rPr>
              <a:t>Busy picnic scene with as many A–Z foods as readable. Find-and-circle list on the side. Experimental hidden-picture finisher.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7772400" cy="4846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af3059bdcec42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7498079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21040" y="1371600"/>
            <a:ext cx="3474720" cy="4846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Calibri"/>
              </a:rPr>
              <a:t>Find and circle:</a:t>
            </a:r>
          </a:p>
        </p:txBody>
      </p:sp>
      <p:sp>
        <p:nvSpPr>
          <p:cNvPr id="11" name="Oval 10"/>
          <p:cNvSpPr/>
          <p:nvPr/>
        </p:nvSpPr>
        <p:spPr>
          <a:xfrm>
            <a:off x="8476488" y="2029968"/>
            <a:ext cx="146304" cy="146304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2011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A apple</a:t>
            </a:r>
          </a:p>
        </p:txBody>
      </p:sp>
      <p:sp>
        <p:nvSpPr>
          <p:cNvPr id="13" name="Oval 12"/>
          <p:cNvSpPr/>
          <p:nvPr/>
        </p:nvSpPr>
        <p:spPr>
          <a:xfrm>
            <a:off x="8476488" y="2487168"/>
            <a:ext cx="146304" cy="146304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468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D donut</a:t>
            </a:r>
          </a:p>
        </p:txBody>
      </p:sp>
      <p:sp>
        <p:nvSpPr>
          <p:cNvPr id="15" name="Oval 14"/>
          <p:cNvSpPr/>
          <p:nvPr/>
        </p:nvSpPr>
        <p:spPr>
          <a:xfrm>
            <a:off x="8476488" y="2944368"/>
            <a:ext cx="146304" cy="146304"/>
          </a:xfrm>
          <a:prstGeom prst="ellipse">
            <a:avLst/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926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G grape</a:t>
            </a:r>
          </a:p>
        </p:txBody>
      </p:sp>
      <p:sp>
        <p:nvSpPr>
          <p:cNvPr id="17" name="Oval 16"/>
          <p:cNvSpPr/>
          <p:nvPr/>
        </p:nvSpPr>
        <p:spPr>
          <a:xfrm>
            <a:off x="8476488" y="3401568"/>
            <a:ext cx="146304" cy="146304"/>
          </a:xfrm>
          <a:prstGeom prst="ellipse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383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J juice</a:t>
            </a:r>
          </a:p>
        </p:txBody>
      </p:sp>
      <p:sp>
        <p:nvSpPr>
          <p:cNvPr id="19" name="Oval 18"/>
          <p:cNvSpPr/>
          <p:nvPr/>
        </p:nvSpPr>
        <p:spPr>
          <a:xfrm>
            <a:off x="8476488" y="3858768"/>
            <a:ext cx="146304" cy="146304"/>
          </a:xfrm>
          <a:prstGeom prst="ellipse">
            <a:avLst/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38404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M milk</a:t>
            </a:r>
          </a:p>
        </p:txBody>
      </p:sp>
      <p:sp>
        <p:nvSpPr>
          <p:cNvPr id="21" name="Oval 20"/>
          <p:cNvSpPr/>
          <p:nvPr/>
        </p:nvSpPr>
        <p:spPr>
          <a:xfrm>
            <a:off x="8476488" y="4315968"/>
            <a:ext cx="146304" cy="146304"/>
          </a:xfrm>
          <a:prstGeom prst="ellipse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4297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 pizza</a:t>
            </a:r>
          </a:p>
        </p:txBody>
      </p:sp>
      <p:sp>
        <p:nvSpPr>
          <p:cNvPr id="23" name="Oval 22"/>
          <p:cNvSpPr/>
          <p:nvPr/>
        </p:nvSpPr>
        <p:spPr>
          <a:xfrm>
            <a:off x="8476488" y="4773168"/>
            <a:ext cx="146304" cy="146304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4754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 tomato</a:t>
            </a:r>
          </a:p>
        </p:txBody>
      </p:sp>
      <p:sp>
        <p:nvSpPr>
          <p:cNvPr id="25" name="Oval 24"/>
          <p:cNvSpPr/>
          <p:nvPr/>
        </p:nvSpPr>
        <p:spPr>
          <a:xfrm>
            <a:off x="8476488" y="5230368"/>
            <a:ext cx="146304" cy="146304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5212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W watermelon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B6BB0"/>
                </a:solidFill>
                <a:latin typeface="Calibri"/>
              </a:rPr>
              <a:t>Can you find more?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A to Z Foods · OPTIONAL EXTRA · Alphabet Picnic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s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28800" y="1645920"/>
            <a:ext cx="8534095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965960"/>
            <a:ext cx="411480" cy="411480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977639" y="1965960"/>
            <a:ext cx="411480" cy="411480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0" y="1965960"/>
            <a:ext cx="411480" cy="411480"/>
          </a:xfrm>
          <a:prstGeom prst="ellipse">
            <a:avLst/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80760" y="1965960"/>
            <a:ext cx="411480" cy="411480"/>
          </a:xfrm>
          <a:prstGeom prst="ellipse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0" y="1965960"/>
            <a:ext cx="411480" cy="411480"/>
          </a:xfrm>
          <a:prstGeom prst="ellipse">
            <a:avLst/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83879" y="1965960"/>
            <a:ext cx="411480" cy="411480"/>
          </a:xfrm>
          <a:prstGeom prst="ellipse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2651760"/>
            <a:ext cx="81683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D5A80"/>
                </a:solidFill>
                <a:latin typeface="Calibri"/>
              </a:rPr>
              <a:t>Thanks for learning with us!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383280"/>
            <a:ext cx="81683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A9D8F"/>
                </a:solidFill>
                <a:latin typeface="Calibri"/>
              </a:rPr>
              <a:t>A to Z Foods · Sentence Flashcards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931920"/>
            <a:ext cx="81683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A8A"/>
                </a:solidFill>
                <a:latin typeface="Calibri"/>
              </a:rPr>
              <a:t>24 foods · ages 5–9 · A1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For one classroom or one home.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