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Relationship Id="rId9" Type="http://schemas.openxmlformats.org/officeDocument/2006/relationships/image" Target="../media/image41.png"/><Relationship Id="rId10" Type="http://schemas.openxmlformats.org/officeDocument/2006/relationships/image" Target="../media/image42.png"/><Relationship Id="rId11" Type="http://schemas.openxmlformats.org/officeDocument/2006/relationships/image" Target="../media/image43.png"/><Relationship Id="rId12" Type="http://schemas.openxmlformats.org/officeDocument/2006/relationships/image" Target="../media/image44.png"/><Relationship Id="rId13" Type="http://schemas.openxmlformats.org/officeDocument/2006/relationships/image" Target="../media/image45.png"/><Relationship Id="rId14" Type="http://schemas.openxmlformats.org/officeDocument/2006/relationships/image" Target="../media/image46.png"/><Relationship Id="rId15" Type="http://schemas.openxmlformats.org/officeDocument/2006/relationships/image" Target="../media/image47.png"/><Relationship Id="rId16" Type="http://schemas.openxmlformats.org/officeDocument/2006/relationships/image" Target="../media/image4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Relationship Id="rId8" Type="http://schemas.openxmlformats.org/officeDocument/2006/relationships/image" Target="../media/image5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Relationship Id="rId7" Type="http://schemas.openxmlformats.org/officeDocument/2006/relationships/image" Target="../media/image6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66.png"/><Relationship Id="rId6" Type="http://schemas.openxmlformats.org/officeDocument/2006/relationships/image" Target="../media/image67.png"/><Relationship Id="rId7" Type="http://schemas.openxmlformats.org/officeDocument/2006/relationships/image" Target="../media/image68.png"/><Relationship Id="rId8" Type="http://schemas.openxmlformats.org/officeDocument/2006/relationships/image" Target="../media/image69.png"/><Relationship Id="rId9" Type="http://schemas.openxmlformats.org/officeDocument/2006/relationships/image" Target="../media/image7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image" Target="../media/image73.png"/><Relationship Id="rId6" Type="http://schemas.openxmlformats.org/officeDocument/2006/relationships/image" Target="../media/image7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Relationship Id="rId6" Type="http://schemas.openxmlformats.org/officeDocument/2006/relationships/image" Target="../media/image78.png"/><Relationship Id="rId7" Type="http://schemas.openxmlformats.org/officeDocument/2006/relationships/image" Target="../media/image7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80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Relationship Id="rId6" Type="http://schemas.openxmlformats.org/officeDocument/2006/relationships/image" Target="../media/image8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84.png"/><Relationship Id="rId4" Type="http://schemas.openxmlformats.org/officeDocument/2006/relationships/image" Target="../media/image85.png"/><Relationship Id="rId5" Type="http://schemas.openxmlformats.org/officeDocument/2006/relationships/image" Target="../media/image86.png"/><Relationship Id="rId6" Type="http://schemas.openxmlformats.org/officeDocument/2006/relationships/image" Target="../media/image87.png"/><Relationship Id="rId7" Type="http://schemas.openxmlformats.org/officeDocument/2006/relationships/image" Target="../media/image88.png"/><Relationship Id="rId8" Type="http://schemas.openxmlformats.org/officeDocument/2006/relationships/image" Target="../media/image89.png"/><Relationship Id="rId9" Type="http://schemas.openxmlformats.org/officeDocument/2006/relationships/image" Target="../media/image9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5" Type="http://schemas.openxmlformats.org/officeDocument/2006/relationships/image" Target="../media/image94.png"/><Relationship Id="rId6" Type="http://schemas.openxmlformats.org/officeDocument/2006/relationships/image" Target="../media/image95.png"/><Relationship Id="rId7" Type="http://schemas.openxmlformats.org/officeDocument/2006/relationships/image" Target="../media/image96.png"/><Relationship Id="rId8" Type="http://schemas.openxmlformats.org/officeDocument/2006/relationships/image" Target="../media/image9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Relationship Id="rId3" Type="http://schemas.openxmlformats.org/officeDocument/2006/relationships/image" Target="../media/image9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99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02.png"/><Relationship Id="rId4" Type="http://schemas.openxmlformats.org/officeDocument/2006/relationships/image" Target="../media/image103.png"/><Relationship Id="rId5" Type="http://schemas.openxmlformats.org/officeDocument/2006/relationships/image" Target="../media/image10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05.png"/><Relationship Id="rId4" Type="http://schemas.openxmlformats.org/officeDocument/2006/relationships/image" Target="../media/image106.png"/><Relationship Id="rId5" Type="http://schemas.openxmlformats.org/officeDocument/2006/relationships/image" Target="../media/image10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08.png"/><Relationship Id="rId4" Type="http://schemas.openxmlformats.org/officeDocument/2006/relationships/image" Target="../media/image109.png"/><Relationship Id="rId5" Type="http://schemas.openxmlformats.org/officeDocument/2006/relationships/image" Target="../media/image1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11.png"/><Relationship Id="rId4" Type="http://schemas.openxmlformats.org/officeDocument/2006/relationships/image" Target="../media/image112.png"/><Relationship Id="rId5" Type="http://schemas.openxmlformats.org/officeDocument/2006/relationships/image" Target="../media/image11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14.png"/><Relationship Id="rId4" Type="http://schemas.openxmlformats.org/officeDocument/2006/relationships/image" Target="../media/image115.png"/><Relationship Id="rId5" Type="http://schemas.openxmlformats.org/officeDocument/2006/relationships/image" Target="../media/image11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ec12dc2a7f752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5760" y="4160520"/>
            <a:ext cx="11460175" cy="242316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0" y="4297680"/>
            <a:ext cx="3962095" cy="109728"/>
          </a:xfrm>
          <a:prstGeom prst="roundRect">
            <a:avLst>
              <a:gd name="adj" fmla="val 50000"/>
            </a:avLst>
          </a:prstGeom>
          <a:solidFill>
            <a:srgbClr val="FF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2628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3D5A80"/>
                </a:solidFill>
                <a:latin typeface="Calibri"/>
              </a:rPr>
              <a:t>Everyday Objects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7492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2A9D8F"/>
                </a:solidFill>
                <a:latin typeface="Calibri"/>
              </a:rPr>
              <a:t>Sentence Flashcards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53212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7B6BB0"/>
                </a:solidFill>
                <a:latin typeface="Calibri"/>
              </a:rPr>
              <a:t>Beginner ESL · A1 · Ages 5–9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89788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7A8A"/>
                </a:solidFill>
                <a:latin typeface="Calibri"/>
              </a:rPr>
              <a:t>15 cards · For parents, teachers &amp; tutors</a:t>
            </a:r>
          </a:p>
        </p:txBody>
      </p:sp>
      <p:pic>
        <p:nvPicPr>
          <p:cNvPr id="9" name="Picture 8" descr="little-wonders-stamp-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5696712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uide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00400" y="228600"/>
            <a:ext cx="5790895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292608"/>
            <a:ext cx="5790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3D5A80"/>
                </a:solidFill>
                <a:latin typeface="Calibri"/>
              </a:rPr>
              <a:t>How to use this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685800"/>
            <a:ext cx="5790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9D8F"/>
                </a:solidFill>
                <a:latin typeface="Calibri"/>
              </a:rPr>
              <a:t>Teacher / Parent Guide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88720"/>
            <a:ext cx="585216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1517904"/>
            <a:ext cx="292608" cy="292608"/>
          </a:xfrm>
          <a:prstGeom prst="ellipse">
            <a:avLst/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35331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D5A80"/>
                </a:solidFill>
                <a:latin typeface="Calibri"/>
              </a:rPr>
              <a:t>1  Show and 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6642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Look at the picture. Read the sentence together. The child repeats.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212848"/>
            <a:ext cx="585216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48640" y="2542032"/>
            <a:ext cx="292608" cy="292608"/>
          </a:xfrm>
          <a:prstGeom prst="ellipse">
            <a:avLst/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3774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D5A80"/>
                </a:solidFill>
                <a:latin typeface="Calibri"/>
              </a:rPr>
              <a:t>2  Name the details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68833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Point to the small pictures on the left and say each word together.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236976"/>
            <a:ext cx="585216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48640" y="3566160"/>
            <a:ext cx="292608" cy="292608"/>
          </a:xfrm>
          <a:prstGeom prst="ellipse">
            <a:avLst/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40156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D5A80"/>
                </a:solidFill>
                <a:latin typeface="Calibri"/>
              </a:rPr>
              <a:t>3  Talk and 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71246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Use the sentences, questions and mini pictures on the right of each card.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261104"/>
            <a:ext cx="585216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640" y="4590288"/>
            <a:ext cx="292608" cy="292608"/>
          </a:xfrm>
          <a:prstGeom prst="ellipse">
            <a:avLst/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42569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D5A80"/>
                </a:solidFill>
                <a:latin typeface="Calibri"/>
              </a:rPr>
              <a:t>4  Worksheets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7365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Worksheet 1: Circle &amp; Match. Worksheet 2: Find and Circle (10 objects).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5285232"/>
            <a:ext cx="585216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48640" y="5614416"/>
            <a:ext cx="292608" cy="292608"/>
          </a:xfrm>
          <a:prstGeom prst="ellipse">
            <a:avLst/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44982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D5A80"/>
                </a:solidFill>
                <a:latin typeface="Calibri"/>
              </a:rPr>
              <a:t>5  Action Pairs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760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6 picture pairs (turn on / turn off ...). Act them out and say both sentences.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7960" y="1188720"/>
            <a:ext cx="5212080" cy="5212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37960" y="1188720"/>
            <a:ext cx="5212080" cy="502920"/>
          </a:xfrm>
          <a:prstGeom prst="roundRect">
            <a:avLst>
              <a:gd name="adj" fmla="val 12000"/>
            </a:avLst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12527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D5A80"/>
                </a:solidFill>
                <a:latin typeface="Calibri"/>
              </a:rPr>
              <a:t>Word List (15)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1. bottle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2331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2. heater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274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3. headphones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3154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4. sofa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5. fan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3977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6. laptop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7. bin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4800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8. paintbrush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2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9. desk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20" y="2331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10. bath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20" y="274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11. lantern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9720" y="3154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12. washing machine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8972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13. teapot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9720" y="3977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14. kettle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972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15. guitar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5029200"/>
            <a:ext cx="10728655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138928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I drink water from my </a:t>
            </a:r>
            <a:r>
              <a:rPr sz="3700" b="1">
                <a:solidFill>
                  <a:srgbClr val="2A9D8F"/>
                </a:solidFill>
                <a:latin typeface="Calibri"/>
              </a:rPr>
              <a:t>bottle</a:t>
            </a:r>
            <a:r>
              <a:rPr sz="3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00648" y="4773168"/>
            <a:ext cx="1347985" cy="310896"/>
          </a:xfrm>
          <a:prstGeom prst="roundRect">
            <a:avLst>
              <a:gd name="adj" fmla="val 45000"/>
            </a:avLst>
          </a:prstGeom>
          <a:solidFill>
            <a:srgbClr val="FFF4D6"/>
          </a:solidFill>
          <a:ln w="15875">
            <a:solidFill>
              <a:srgbClr val="F2C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648" y="4773168"/>
            <a:ext cx="1347985" cy="310896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0765A"/>
                </a:solidFill>
                <a:latin typeface="Calibri"/>
              </a:rPr>
              <a:t>bot·tle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3  ·  1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786db1c7c4699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411480"/>
            <a:ext cx="5385816" cy="4123944"/>
          </a:xfrm>
          <a:prstGeom prst="rect">
            <a:avLst/>
          </a:prstGeom>
        </p:spPr>
      </p:pic>
      <p:pic>
        <p:nvPicPr>
          <p:cNvPr id="11" name="Picture 10" descr="main-bottle_c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7608" y="548640"/>
            <a:ext cx="2433735" cy="384962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02920" y="684648"/>
            <a:ext cx="2148840" cy="1168049"/>
          </a:xfrm>
          <a:prstGeom prst="roundRect">
            <a:avLst>
              <a:gd name="adj" fmla="val 14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9eb3e23c5707d5c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748656"/>
            <a:ext cx="2020824" cy="1040033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02920" y="2401337"/>
            <a:ext cx="2148840" cy="1467726"/>
          </a:xfrm>
          <a:prstGeom prst="roundRect">
            <a:avLst>
              <a:gd name="adj" fmla="val 14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7b92eb6e79d6fce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2465345"/>
            <a:ext cx="2020824" cy="1339710"/>
          </a:xfrm>
          <a:prstGeom prst="rect">
            <a:avLst/>
          </a:prstGeom>
        </p:spPr>
      </p:pic>
      <p:cxnSp>
        <p:nvCxnSpPr>
          <p:cNvPr id="16" name="Connector 15"/>
          <p:cNvCxnSpPr/>
          <p:nvPr/>
        </p:nvCxnSpPr>
        <p:spPr>
          <a:xfrm flipV="1">
            <a:off x="2651760" y="946101"/>
            <a:ext cx="3099291" cy="322571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723619" y="918669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V="1">
            <a:off x="2651760" y="2274300"/>
            <a:ext cx="2520988" cy="860900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145316" y="2246868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28700" y="1898417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8700" y="1898417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cap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8700" y="3914783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8700" y="3914783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label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62288" y="502920"/>
            <a:ext cx="2651760" cy="389763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345168" y="649224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08592" y="81381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The bottle is </a:t>
            </a:r>
            <a:r>
              <a:rPr sz="1500" b="1">
                <a:solidFill>
                  <a:srgbClr val="2A9D8F"/>
                </a:solidFill>
                <a:latin typeface="Calibri"/>
              </a:rPr>
              <a:t>full</a:t>
            </a:r>
            <a:r>
              <a:rPr sz="13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08592" y="1197864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The bottle is </a:t>
            </a:r>
            <a:r>
              <a:rPr sz="1500" b="1">
                <a:solidFill>
                  <a:srgbClr val="2A9D8F"/>
                </a:solidFill>
                <a:latin typeface="Calibri"/>
              </a:rPr>
              <a:t>empty</a:t>
            </a:r>
            <a:r>
              <a:rPr sz="13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pic>
        <p:nvPicPr>
          <p:cNvPr id="28" name="Picture 27" descr="b186de3169c4776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9448" y="1581912"/>
            <a:ext cx="2377440" cy="133731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9482328" y="2955798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82328" y="2955798"/>
            <a:ext cx="822960" cy="256032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full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671048" y="2955798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71048" y="2955798"/>
            <a:ext cx="822960" cy="256032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empty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08592" y="3339846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Do you have a bottle?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08592" y="366903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Does your bottle have a label?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08592" y="399821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Is your bottle full or empty?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5029200"/>
            <a:ext cx="10728655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138928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The </a:t>
            </a:r>
            <a:r>
              <a:rPr sz="3700" b="1">
                <a:solidFill>
                  <a:srgbClr val="2A9D8F"/>
                </a:solidFill>
                <a:latin typeface="Calibri"/>
              </a:rPr>
              <a:t>heater</a:t>
            </a:r>
            <a:r>
              <a:rPr sz="3200" b="0">
                <a:solidFill>
                  <a:srgbClr val="3D5A80"/>
                </a:solidFill>
                <a:latin typeface="Calibri"/>
              </a:rPr>
              <a:t> keeps me warm.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19404" y="4773168"/>
            <a:ext cx="1459964" cy="310896"/>
          </a:xfrm>
          <a:prstGeom prst="roundRect">
            <a:avLst>
              <a:gd name="adj" fmla="val 45000"/>
            </a:avLst>
          </a:prstGeom>
          <a:solidFill>
            <a:srgbClr val="FFF4D6"/>
          </a:solidFill>
          <a:ln w="15875">
            <a:solidFill>
              <a:srgbClr val="F2C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19404" y="4773168"/>
            <a:ext cx="1459964" cy="310896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0765A"/>
                </a:solidFill>
                <a:latin typeface="Calibri"/>
              </a:rPr>
              <a:t>heat·er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3  ·  2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fc7e6e98cdfdd6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411480"/>
            <a:ext cx="5385816" cy="4123944"/>
          </a:xfrm>
          <a:prstGeom prst="rect">
            <a:avLst/>
          </a:prstGeom>
        </p:spPr>
      </p:pic>
      <p:pic>
        <p:nvPicPr>
          <p:cNvPr id="11" name="Picture 10" descr="main-heater_c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4665" y="548640"/>
            <a:ext cx="3119621" cy="384962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02920" y="614363"/>
            <a:ext cx="2148840" cy="1264729"/>
          </a:xfrm>
          <a:prstGeom prst="roundRect">
            <a:avLst>
              <a:gd name="adj" fmla="val 14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66972237b1e9fb4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678371"/>
            <a:ext cx="2020824" cy="1136713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02920" y="2427732"/>
            <a:ext cx="2148840" cy="1264729"/>
          </a:xfrm>
          <a:prstGeom prst="roundRect">
            <a:avLst>
              <a:gd name="adj" fmla="val 14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55b779b997c0c41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2491740"/>
            <a:ext cx="2020824" cy="1136713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1028700" y="192481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8700" y="1924812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wires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8700" y="3738181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8700" y="3738181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dial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0634" y="4058221"/>
            <a:ext cx="2153412" cy="2743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D5A80"/>
                </a:solidFill>
                <a:latin typeface="Calibri"/>
              </a:rPr>
              <a:t>warm · warmer · warmest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62288" y="502920"/>
            <a:ext cx="2651760" cy="41879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345168" y="649224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8592" y="81381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It is </a:t>
            </a:r>
            <a:r>
              <a:rPr sz="1500" b="1">
                <a:solidFill>
                  <a:srgbClr val="2A9D8F"/>
                </a:solidFill>
                <a:latin typeface="Calibri"/>
              </a:rPr>
              <a:t>cold</a:t>
            </a:r>
            <a:r>
              <a:rPr sz="1300" b="0">
                <a:solidFill>
                  <a:srgbClr val="3D5A80"/>
                </a:solidFill>
                <a:latin typeface="Calibri"/>
              </a:rPr>
              <a:t>. The heater is </a:t>
            </a:r>
            <a:r>
              <a:rPr sz="1500" b="1">
                <a:solidFill>
                  <a:srgbClr val="2A9D8F"/>
                </a:solidFill>
                <a:latin typeface="Calibri"/>
              </a:rPr>
              <a:t>on</a:t>
            </a:r>
            <a:r>
              <a:rPr sz="13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8592" y="1197864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It is </a:t>
            </a:r>
            <a:r>
              <a:rPr sz="1500" b="1">
                <a:solidFill>
                  <a:srgbClr val="2A9D8F"/>
                </a:solidFill>
                <a:latin typeface="Calibri"/>
              </a:rPr>
              <a:t>hot</a:t>
            </a:r>
            <a:r>
              <a:rPr sz="1300" b="0">
                <a:solidFill>
                  <a:srgbClr val="3D5A80"/>
                </a:solidFill>
                <a:latin typeface="Calibri"/>
              </a:rPr>
              <a:t>. The heater is </a:t>
            </a:r>
            <a:r>
              <a:rPr sz="1500" b="1">
                <a:solidFill>
                  <a:srgbClr val="2A9D8F"/>
                </a:solidFill>
                <a:latin typeface="Calibri"/>
              </a:rPr>
              <a:t>off</a:t>
            </a:r>
            <a:r>
              <a:rPr sz="13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pic>
        <p:nvPicPr>
          <p:cNvPr id="25" name="Picture 24" descr="12821ba2e530b60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6600" y="1581912"/>
            <a:ext cx="1723136" cy="969264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9783064" y="2587752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3064" y="2587752"/>
            <a:ext cx="548640" cy="256032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D5A80"/>
                </a:solidFill>
                <a:latin typeface="Calibri"/>
              </a:rPr>
              <a:t>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644632" y="2587752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44632" y="2587752"/>
            <a:ext cx="548640" cy="256032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D5A80"/>
                </a:solidFill>
                <a:latin typeface="Calibri"/>
              </a:rPr>
              <a:t>off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08592" y="2971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7B6BB0"/>
                </a:solidFill>
                <a:latin typeface="Calibri"/>
              </a:rPr>
              <a:t>Should we use the heater when it's hot?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28048" y="3429000"/>
            <a:ext cx="868680" cy="274320"/>
          </a:xfrm>
          <a:prstGeom prst="roundRect">
            <a:avLst>
              <a:gd name="adj" fmla="val 30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28048" y="3429000"/>
            <a:ext cx="868680" cy="274320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D5A80"/>
                </a:solidFill>
                <a:latin typeface="Calibri"/>
              </a:rPr>
              <a:t>YES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579608" y="3429000"/>
            <a:ext cx="868680" cy="274320"/>
          </a:xfrm>
          <a:prstGeom prst="roundRect">
            <a:avLst>
              <a:gd name="adj" fmla="val 30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79608" y="3429000"/>
            <a:ext cx="868680" cy="274320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D5A80"/>
                </a:solidFill>
                <a:latin typeface="Calibri"/>
              </a:rPr>
              <a:t>NO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08592" y="3794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7B6BB0"/>
                </a:solidFill>
                <a:latin typeface="Calibri"/>
              </a:rPr>
              <a:t>Should we use the heater when it's cold?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28048" y="4251960"/>
            <a:ext cx="868680" cy="274320"/>
          </a:xfrm>
          <a:prstGeom prst="roundRect">
            <a:avLst>
              <a:gd name="adj" fmla="val 30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28048" y="4251960"/>
            <a:ext cx="868680" cy="274320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D5A80"/>
                </a:solidFill>
                <a:latin typeface="Calibri"/>
              </a:rPr>
              <a:t>YES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579608" y="4251960"/>
            <a:ext cx="868680" cy="274320"/>
          </a:xfrm>
          <a:prstGeom prst="roundRect">
            <a:avLst>
              <a:gd name="adj" fmla="val 30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79608" y="4251960"/>
            <a:ext cx="868680" cy="274320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D5A80"/>
                </a:solidFill>
                <a:latin typeface="Calibri"/>
              </a:rPr>
              <a:t>NO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5029200"/>
            <a:ext cx="10728655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138928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I listen to music with my </a:t>
            </a:r>
            <a:r>
              <a:rPr sz="3700" b="1">
                <a:solidFill>
                  <a:srgbClr val="2A9D8F"/>
                </a:solidFill>
                <a:latin typeface="Calibri"/>
              </a:rPr>
              <a:t>headphones</a:t>
            </a:r>
            <a:r>
              <a:rPr sz="3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92759" y="4773168"/>
            <a:ext cx="2588815" cy="310896"/>
          </a:xfrm>
          <a:prstGeom prst="roundRect">
            <a:avLst>
              <a:gd name="adj" fmla="val 45000"/>
            </a:avLst>
          </a:prstGeom>
          <a:solidFill>
            <a:srgbClr val="FFF4D6"/>
          </a:solidFill>
          <a:ln w="15875">
            <a:solidFill>
              <a:srgbClr val="F2C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92759" y="4773168"/>
            <a:ext cx="2588815" cy="310896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0765A"/>
                </a:solidFill>
                <a:latin typeface="Calibri"/>
              </a:rPr>
              <a:t>head·phones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3  ·  3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2f39f1246a0e6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411480"/>
            <a:ext cx="5385816" cy="4123944"/>
          </a:xfrm>
          <a:prstGeom prst="rect">
            <a:avLst/>
          </a:prstGeom>
        </p:spPr>
      </p:pic>
      <p:pic>
        <p:nvPicPr>
          <p:cNvPr id="11" name="Picture 10" descr="main-headphones_c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8529" y="548640"/>
            <a:ext cx="3411894" cy="384962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02920" y="578492"/>
            <a:ext cx="2148840" cy="1583359"/>
          </a:xfrm>
          <a:prstGeom prst="roundRect">
            <a:avLst>
              <a:gd name="adj" fmla="val 14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6a0448938d0e62c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642500"/>
            <a:ext cx="2020824" cy="1455343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02920" y="2710491"/>
            <a:ext cx="2148840" cy="1264729"/>
          </a:xfrm>
          <a:prstGeom prst="roundRect">
            <a:avLst>
              <a:gd name="adj" fmla="val 14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1a67bca6a2bf6b4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2774499"/>
            <a:ext cx="2020824" cy="1136713"/>
          </a:xfrm>
          <a:prstGeom prst="rect">
            <a:avLst/>
          </a:prstGeom>
        </p:spPr>
      </p:pic>
      <p:cxnSp>
        <p:nvCxnSpPr>
          <p:cNvPr id="16" name="Connector 15"/>
          <p:cNvCxnSpPr/>
          <p:nvPr/>
        </p:nvCxnSpPr>
        <p:spPr>
          <a:xfrm flipV="1">
            <a:off x="2651760" y="1002435"/>
            <a:ext cx="2660227" cy="367736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284555" y="975003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73252" y="2207571"/>
            <a:ext cx="140817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" y="2207571"/>
            <a:ext cx="1408176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headband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" y="4020940"/>
            <a:ext cx="152704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" y="4020940"/>
            <a:ext cx="1527048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earphones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62288" y="502920"/>
            <a:ext cx="265176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345168" y="649224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99448" y="813816"/>
            <a:ext cx="1133856" cy="850392"/>
          </a:xfrm>
          <a:prstGeom prst="roundRect">
            <a:avLst>
              <a:gd name="adj" fmla="val 12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e1d7778382c76e7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6024" y="850392"/>
            <a:ext cx="1060704" cy="7772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299448" y="1682496"/>
            <a:ext cx="1133856" cy="38404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0765A"/>
                </a:solidFill>
                <a:latin typeface="Calibri"/>
              </a:rPr>
              <a:t>♪♫♪♫♪♫♪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00616" y="208483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2084832"/>
            <a:ext cx="731520" cy="256032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D5A80"/>
                </a:solidFill>
                <a:latin typeface="Calibri"/>
              </a:rPr>
              <a:t>loud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53728" y="2395728"/>
            <a:ext cx="1225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D5A80"/>
                </a:solidFill>
                <a:latin typeface="Calibri"/>
              </a:rPr>
              <a:t>The music is </a:t>
            </a:r>
            <a:r>
              <a:rPr sz="1250" b="1">
                <a:solidFill>
                  <a:srgbClr val="2A9D8F"/>
                </a:solidFill>
                <a:latin typeface="Calibri"/>
              </a:rPr>
              <a:t>loud</a:t>
            </a:r>
            <a:r>
              <a:rPr sz="105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543032" y="813816"/>
            <a:ext cx="1133856" cy="850392"/>
          </a:xfrm>
          <a:prstGeom prst="roundRect">
            <a:avLst>
              <a:gd name="adj" fmla="val 12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e1d7778382c76e7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9608" y="850392"/>
            <a:ext cx="1060704" cy="77724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543032" y="1682496"/>
            <a:ext cx="1133856" cy="38404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4AB0A0"/>
                </a:solidFill>
                <a:latin typeface="Calibri"/>
              </a:rPr>
              <a:t>♪  ♪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744200" y="208483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44200" y="2084832"/>
            <a:ext cx="731520" cy="256032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D5A80"/>
                </a:solidFill>
                <a:latin typeface="Calibri"/>
              </a:rPr>
              <a:t>quiet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97312" y="2395728"/>
            <a:ext cx="1225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D5A80"/>
                </a:solidFill>
                <a:latin typeface="Calibri"/>
              </a:rPr>
              <a:t>The music is </a:t>
            </a:r>
            <a:r>
              <a:rPr sz="1250" b="1">
                <a:solidFill>
                  <a:srgbClr val="2A9D8F"/>
                </a:solidFill>
                <a:latin typeface="Calibri"/>
              </a:rPr>
              <a:t>quiet</a:t>
            </a:r>
            <a:r>
              <a:rPr sz="105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08592" y="289864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How do we wear our headphones?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08592" y="33558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→ </a:t>
            </a:r>
            <a:r>
              <a:rPr sz="1500" b="1">
                <a:solidFill>
                  <a:srgbClr val="2A9D8F"/>
                </a:solidFill>
                <a:latin typeface="Calibri"/>
              </a:rPr>
              <a:t>On my head.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08592" y="372160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How do we wear our earphones?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08592" y="417880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→ </a:t>
            </a:r>
            <a:r>
              <a:rPr sz="1500" b="1">
                <a:solidFill>
                  <a:srgbClr val="2A9D8F"/>
                </a:solidFill>
                <a:latin typeface="Calibri"/>
              </a:rPr>
              <a:t>In my ears.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5029200"/>
            <a:ext cx="10728655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138928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We sit on the </a:t>
            </a:r>
            <a:r>
              <a:rPr sz="3700" b="1">
                <a:solidFill>
                  <a:srgbClr val="2A9D8F"/>
                </a:solidFill>
                <a:latin typeface="Calibri"/>
              </a:rPr>
              <a:t>sofa</a:t>
            </a:r>
            <a:r>
              <a:rPr sz="3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88739" y="4773168"/>
            <a:ext cx="996037" cy="310896"/>
          </a:xfrm>
          <a:prstGeom prst="roundRect">
            <a:avLst>
              <a:gd name="adj" fmla="val 45000"/>
            </a:avLst>
          </a:prstGeom>
          <a:solidFill>
            <a:srgbClr val="FFF4D6"/>
          </a:solidFill>
          <a:ln w="15875">
            <a:solidFill>
              <a:srgbClr val="F2C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88739" y="4773168"/>
            <a:ext cx="996037" cy="310896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0765A"/>
                </a:solidFill>
                <a:latin typeface="Calibri"/>
              </a:rPr>
              <a:t>so·fa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3  ·  4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2c4569ff5aeea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411480"/>
            <a:ext cx="5385816" cy="4123944"/>
          </a:xfrm>
          <a:prstGeom prst="rect">
            <a:avLst/>
          </a:prstGeom>
        </p:spPr>
      </p:pic>
      <p:pic>
        <p:nvPicPr>
          <p:cNvPr id="11" name="Picture 10" descr="main-sofa_c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728" y="1213083"/>
            <a:ext cx="5111496" cy="252073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5760" y="4050792"/>
            <a:ext cx="242316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4050792"/>
            <a:ext cx="2331720" cy="566928"/>
          </a:xfrm>
          <a:prstGeom prst="rect">
            <a:avLst/>
          </a:prstGeom>
          <a:noFill/>
        </p:spPr>
        <p:txBody>
          <a:bodyPr wrap="square" anchor="ctr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7B6BB0"/>
                </a:solidFill>
                <a:latin typeface="Calibri"/>
              </a:rPr>
              <a:t>Where do we sit, on the armrest or the cushion?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53056" y="448850"/>
            <a:ext cx="848568" cy="1344168"/>
          </a:xfrm>
          <a:prstGeom prst="roundRect">
            <a:avLst>
              <a:gd name="adj" fmla="val 14000"/>
            </a:avLst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bbe1dadd06090ac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7064" y="512858"/>
            <a:ext cx="720552" cy="1216152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2341658"/>
            <a:ext cx="2148840" cy="1086548"/>
          </a:xfrm>
          <a:prstGeom prst="roundRect">
            <a:avLst>
              <a:gd name="adj" fmla="val 14000"/>
            </a:avLst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4862e088aa9fbf0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2405666"/>
            <a:ext cx="2020824" cy="958532"/>
          </a:xfrm>
          <a:prstGeom prst="rect">
            <a:avLst/>
          </a:prstGeom>
        </p:spPr>
      </p:pic>
      <p:cxnSp>
        <p:nvCxnSpPr>
          <p:cNvPr id="18" name="Connector 17"/>
          <p:cNvCxnSpPr/>
          <p:nvPr/>
        </p:nvCxnSpPr>
        <p:spPr>
          <a:xfrm>
            <a:off x="2001624" y="1120934"/>
            <a:ext cx="1896700" cy="1381097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870892" y="2474599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 flipV="1">
            <a:off x="2651760" y="2701021"/>
            <a:ext cx="2319372" cy="183911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4943700" y="2673589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32688" y="1838738"/>
            <a:ext cx="128930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1838738"/>
            <a:ext cx="1289304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armrest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" y="3473926"/>
            <a:ext cx="128930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3473926"/>
            <a:ext cx="1289304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cushion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62288" y="502920"/>
            <a:ext cx="2651760" cy="356844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345168" y="649224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77c406834b28f63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9448" y="813816"/>
            <a:ext cx="2377440" cy="133731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9482328" y="2187702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82328" y="2187702"/>
            <a:ext cx="822960" cy="256032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sofa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671048" y="2187702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71048" y="2187702"/>
            <a:ext cx="822960" cy="256032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chair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08592" y="257175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How many people can sit on the chair?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08592" y="312039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How many people can sit on the sofa?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08592" y="366903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Where do you sit at home?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5029200"/>
            <a:ext cx="10728655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138928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The </a:t>
            </a:r>
            <a:r>
              <a:rPr sz="3700" b="1">
                <a:solidFill>
                  <a:srgbClr val="2A9D8F"/>
                </a:solidFill>
                <a:latin typeface="Calibri"/>
              </a:rPr>
              <a:t>fan</a:t>
            </a:r>
            <a:r>
              <a:rPr sz="3200" b="0">
                <a:solidFill>
                  <a:srgbClr val="3D5A80"/>
                </a:solidFill>
                <a:latin typeface="Calibri"/>
              </a:rPr>
              <a:t> keeps me cool.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66196" y="4773168"/>
            <a:ext cx="822960" cy="310896"/>
          </a:xfrm>
          <a:prstGeom prst="roundRect">
            <a:avLst>
              <a:gd name="adj" fmla="val 45000"/>
            </a:avLst>
          </a:prstGeom>
          <a:solidFill>
            <a:srgbClr val="FFF4D6"/>
          </a:solidFill>
          <a:ln w="15875">
            <a:solidFill>
              <a:srgbClr val="F2C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66196" y="4773168"/>
            <a:ext cx="822960" cy="310896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0765A"/>
                </a:solidFill>
                <a:latin typeface="Calibri"/>
              </a:rPr>
              <a:t>fan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3  ·  5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6edf35a1786b512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411480"/>
            <a:ext cx="5385816" cy="4123944"/>
          </a:xfrm>
          <a:prstGeom prst="rect">
            <a:avLst/>
          </a:prstGeom>
        </p:spPr>
      </p:pic>
      <p:pic>
        <p:nvPicPr>
          <p:cNvPr id="11" name="Picture 10" descr="main-fan_c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3135" y="548640"/>
            <a:ext cx="3962681" cy="384962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26001" y="467201"/>
            <a:ext cx="1702677" cy="1559052"/>
          </a:xfrm>
          <a:prstGeom prst="roundRect">
            <a:avLst>
              <a:gd name="adj" fmla="val 14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7c22c8b3307dfed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009" y="531209"/>
            <a:ext cx="1574661" cy="143103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02920" y="2574893"/>
            <a:ext cx="2148840" cy="1264729"/>
          </a:xfrm>
          <a:prstGeom prst="roundRect">
            <a:avLst>
              <a:gd name="adj" fmla="val 14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e452b47100a2ff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2638901"/>
            <a:ext cx="2020824" cy="1136713"/>
          </a:xfrm>
          <a:prstGeom prst="rect">
            <a:avLst/>
          </a:prstGeom>
        </p:spPr>
      </p:pic>
      <p:cxnSp>
        <p:nvCxnSpPr>
          <p:cNvPr id="16" name="Connector 15"/>
          <p:cNvCxnSpPr/>
          <p:nvPr/>
        </p:nvCxnSpPr>
        <p:spPr>
          <a:xfrm>
            <a:off x="2428678" y="1246727"/>
            <a:ext cx="2184510" cy="108457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585756" y="1327752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2651760" y="3207257"/>
            <a:ext cx="2540991" cy="358702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165319" y="3538527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28699" y="2071973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8699" y="2071973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spin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8700" y="388534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8700" y="3885342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dial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0634" y="4205382"/>
            <a:ext cx="2153412" cy="2743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D5A80"/>
                </a:solidFill>
                <a:latin typeface="Calibri"/>
              </a:rPr>
              <a:t>cool · cooler · coolest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62288" y="502920"/>
            <a:ext cx="2651760" cy="41879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345168" y="649224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08592" y="81381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It is </a:t>
            </a:r>
            <a:r>
              <a:rPr sz="1500" b="1">
                <a:solidFill>
                  <a:srgbClr val="2A9D8F"/>
                </a:solidFill>
                <a:latin typeface="Calibri"/>
              </a:rPr>
              <a:t>hot</a:t>
            </a:r>
            <a:r>
              <a:rPr sz="1300" b="0">
                <a:solidFill>
                  <a:srgbClr val="3D5A80"/>
                </a:solidFill>
                <a:latin typeface="Calibri"/>
              </a:rPr>
              <a:t> today.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08592" y="1197864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The fan makes me </a:t>
            </a:r>
            <a:r>
              <a:rPr sz="1500" b="1">
                <a:solidFill>
                  <a:srgbClr val="2A9D8F"/>
                </a:solidFill>
                <a:latin typeface="Calibri"/>
              </a:rPr>
              <a:t>cool</a:t>
            </a:r>
            <a:r>
              <a:rPr sz="13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pic>
        <p:nvPicPr>
          <p:cNvPr id="29" name="Picture 28" descr="236ea15b8c15fd2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6600" y="1581912"/>
            <a:ext cx="1723136" cy="969264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9783064" y="2587752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83064" y="2587752"/>
            <a:ext cx="548640" cy="256032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D5A80"/>
                </a:solidFill>
                <a:latin typeface="Calibri"/>
              </a:rPr>
              <a:t>hot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644632" y="2587752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44632" y="2587752"/>
            <a:ext cx="548640" cy="256032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D5A80"/>
                </a:solidFill>
                <a:latin typeface="Calibri"/>
              </a:rPr>
              <a:t>cold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08592" y="2971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7B6BB0"/>
                </a:solidFill>
                <a:latin typeface="Calibri"/>
              </a:rPr>
              <a:t>Do we use the fan when it's hot?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28048" y="3429000"/>
            <a:ext cx="868680" cy="274320"/>
          </a:xfrm>
          <a:prstGeom prst="roundRect">
            <a:avLst>
              <a:gd name="adj" fmla="val 30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28048" y="3429000"/>
            <a:ext cx="868680" cy="274320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D5A80"/>
                </a:solidFill>
                <a:latin typeface="Calibri"/>
              </a:rPr>
              <a:t>YES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579608" y="3429000"/>
            <a:ext cx="868680" cy="274320"/>
          </a:xfrm>
          <a:prstGeom prst="roundRect">
            <a:avLst>
              <a:gd name="adj" fmla="val 30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79608" y="3429000"/>
            <a:ext cx="868680" cy="274320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D5A80"/>
                </a:solidFill>
                <a:latin typeface="Calibri"/>
              </a:rPr>
              <a:t>NO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08592" y="3794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7B6BB0"/>
                </a:solidFill>
                <a:latin typeface="Calibri"/>
              </a:rPr>
              <a:t>Do we use the fan when it's cold?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28048" y="4251960"/>
            <a:ext cx="868680" cy="274320"/>
          </a:xfrm>
          <a:prstGeom prst="roundRect">
            <a:avLst>
              <a:gd name="adj" fmla="val 30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28048" y="4251960"/>
            <a:ext cx="868680" cy="274320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D5A80"/>
                </a:solidFill>
                <a:latin typeface="Calibri"/>
              </a:rPr>
              <a:t>YES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579608" y="4251960"/>
            <a:ext cx="868680" cy="274320"/>
          </a:xfrm>
          <a:prstGeom prst="roundRect">
            <a:avLst>
              <a:gd name="adj" fmla="val 30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79608" y="4251960"/>
            <a:ext cx="868680" cy="274320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D5A80"/>
                </a:solidFill>
                <a:latin typeface="Calibri"/>
              </a:rPr>
              <a:t>NO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5029200"/>
            <a:ext cx="10728655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138928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I type on the </a:t>
            </a:r>
            <a:r>
              <a:rPr sz="3700" b="1">
                <a:solidFill>
                  <a:srgbClr val="2A9D8F"/>
                </a:solidFill>
                <a:latin typeface="Calibri"/>
              </a:rPr>
              <a:t>laptop</a:t>
            </a:r>
            <a:r>
              <a:rPr sz="3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15411" y="4773168"/>
            <a:ext cx="1443672" cy="310896"/>
          </a:xfrm>
          <a:prstGeom prst="roundRect">
            <a:avLst>
              <a:gd name="adj" fmla="val 45000"/>
            </a:avLst>
          </a:prstGeom>
          <a:solidFill>
            <a:srgbClr val="FFF4D6"/>
          </a:solidFill>
          <a:ln w="15875">
            <a:solidFill>
              <a:srgbClr val="F2C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15411" y="4773168"/>
            <a:ext cx="1443672" cy="310896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0765A"/>
                </a:solidFill>
                <a:latin typeface="Calibri"/>
              </a:rPr>
              <a:t>lap·top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3  ·  6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in-lap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1037" y="548640"/>
            <a:ext cx="4826877" cy="384962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02920" y="614363"/>
            <a:ext cx="2148840" cy="1264729"/>
          </a:xfrm>
          <a:prstGeom prst="roundRect">
            <a:avLst>
              <a:gd name="adj" fmla="val 14000"/>
            </a:avLst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4d4a0f14d448e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78371"/>
            <a:ext cx="2020824" cy="1136713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02920" y="2674620"/>
            <a:ext cx="2148840" cy="1264729"/>
          </a:xfrm>
          <a:prstGeom prst="roundRect">
            <a:avLst>
              <a:gd name="adj" fmla="val 14000"/>
            </a:avLst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46b70acf243c83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2738628"/>
            <a:ext cx="2020824" cy="1136713"/>
          </a:xfrm>
          <a:prstGeom prst="rect">
            <a:avLst/>
          </a:prstGeom>
        </p:spPr>
      </p:pic>
      <p:cxnSp>
        <p:nvCxnSpPr>
          <p:cNvPr id="15" name="Connector 14"/>
          <p:cNvCxnSpPr/>
          <p:nvPr/>
        </p:nvCxnSpPr>
        <p:spPr>
          <a:xfrm>
            <a:off x="2651760" y="1246727"/>
            <a:ext cx="1843984" cy="1733492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468312" y="2952787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73252" y="1924812"/>
            <a:ext cx="140817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3252" y="1924812"/>
            <a:ext cx="1408176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keyboard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2910" y="2244852"/>
            <a:ext cx="2308860" cy="2743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D5A80"/>
                </a:solidFill>
                <a:latin typeface="Calibri"/>
              </a:rPr>
              <a:t>I </a:t>
            </a:r>
            <a:r>
              <a:rPr sz="1400" b="1">
                <a:solidFill>
                  <a:srgbClr val="2A9D8F"/>
                </a:solidFill>
                <a:latin typeface="Calibri"/>
              </a:rPr>
              <a:t>type</a:t>
            </a:r>
            <a:r>
              <a:rPr sz="1200" b="0">
                <a:solidFill>
                  <a:srgbClr val="3D5A80"/>
                </a:solidFill>
                <a:latin typeface="Calibri"/>
              </a:rPr>
              <a:t> with the keyboard.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6636" y="3985069"/>
            <a:ext cx="212140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6636" y="3985069"/>
            <a:ext cx="2121408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Mobile devices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62288" y="502920"/>
            <a:ext cx="2651760" cy="34907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345168" y="649224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08592" y="81381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I </a:t>
            </a:r>
            <a:r>
              <a:rPr sz="1500" b="1">
                <a:solidFill>
                  <a:srgbClr val="2A9D8F"/>
                </a:solidFill>
                <a:latin typeface="Calibri"/>
              </a:rPr>
              <a:t>click</a:t>
            </a:r>
            <a:r>
              <a:rPr sz="1300" b="0">
                <a:solidFill>
                  <a:srgbClr val="3D5A80"/>
                </a:solidFill>
                <a:latin typeface="Calibri"/>
              </a:rPr>
              <a:t> with the mouse.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8592" y="1197864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I </a:t>
            </a:r>
            <a:r>
              <a:rPr sz="1500" b="1">
                <a:solidFill>
                  <a:srgbClr val="2A9D8F"/>
                </a:solidFill>
                <a:latin typeface="Calibri"/>
              </a:rPr>
              <a:t>tap</a:t>
            </a:r>
            <a:r>
              <a:rPr sz="1300" b="0">
                <a:solidFill>
                  <a:srgbClr val="3D5A80"/>
                </a:solidFill>
                <a:latin typeface="Calibri"/>
              </a:rPr>
              <a:t> with the pad.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99448" y="1581912"/>
            <a:ext cx="1143000" cy="857250"/>
          </a:xfrm>
          <a:prstGeom prst="roundRect">
            <a:avLst>
              <a:gd name="adj" fmla="val 12000"/>
            </a:avLst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d3633ef28b3af1e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6024" y="1618488"/>
            <a:ext cx="1069848" cy="784098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9539478" y="2475738"/>
            <a:ext cx="66294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39478" y="2475738"/>
            <a:ext cx="662940" cy="237744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mouse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533888" y="1581912"/>
            <a:ext cx="1143000" cy="857250"/>
          </a:xfrm>
          <a:prstGeom prst="roundRect">
            <a:avLst>
              <a:gd name="adj" fmla="val 12000"/>
            </a:avLst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e43349c3c285874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0464" y="1618488"/>
            <a:ext cx="1069848" cy="784098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10657332" y="2475738"/>
            <a:ext cx="896112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57332" y="2475738"/>
            <a:ext cx="896112" cy="237744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touchpad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08592" y="282321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Click, click, click. Is that a mouse or a touchpad?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08592" y="337185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Tap, tap, tap. Is that a mouse or a touchpad?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4901184"/>
            <a:ext cx="10728655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873752"/>
            <a:ext cx="1036289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3D5A80"/>
                </a:solidFill>
                <a:latin typeface="Calibri"/>
              </a:rPr>
              <a:t>I put rubbish in the </a:t>
            </a:r>
            <a:r>
              <a:rPr sz="3000" b="1">
                <a:solidFill>
                  <a:srgbClr val="2A9D8F"/>
                </a:solidFill>
                <a:latin typeface="Calibri"/>
              </a:rPr>
              <a:t>bin</a:t>
            </a:r>
            <a:r>
              <a:rPr sz="26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55557" y="4645152"/>
            <a:ext cx="822960" cy="310896"/>
          </a:xfrm>
          <a:prstGeom prst="roundRect">
            <a:avLst>
              <a:gd name="adj" fmla="val 45000"/>
            </a:avLst>
          </a:prstGeom>
          <a:solidFill>
            <a:srgbClr val="FFF4D6"/>
          </a:solidFill>
          <a:ln w="15875">
            <a:solidFill>
              <a:srgbClr val="F2C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55557" y="4645152"/>
            <a:ext cx="822960" cy="310896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0765A"/>
                </a:solidFill>
                <a:latin typeface="Calibri"/>
              </a:rPr>
              <a:t>bin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647688"/>
            <a:ext cx="1127729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7A8A"/>
                </a:solidFill>
                <a:latin typeface="Calibri"/>
              </a:rPr>
              <a:t>Everyday Objects 3  ·  7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in-b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590" y="548640"/>
            <a:ext cx="3609772" cy="384962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02920" y="378765"/>
            <a:ext cx="2148840" cy="1565046"/>
          </a:xfrm>
          <a:prstGeom prst="roundRect">
            <a:avLst>
              <a:gd name="adj" fmla="val 14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9477f4988f85cb9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42773"/>
            <a:ext cx="2020824" cy="143703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91862" y="2492451"/>
            <a:ext cx="1970956" cy="1682496"/>
          </a:xfrm>
          <a:prstGeom prst="roundRect">
            <a:avLst>
              <a:gd name="adj" fmla="val 14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528f2cab98f621a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870" y="2556459"/>
            <a:ext cx="1842940" cy="1554480"/>
          </a:xfrm>
          <a:prstGeom prst="rect">
            <a:avLst/>
          </a:prstGeom>
        </p:spPr>
      </p:pic>
      <p:cxnSp>
        <p:nvCxnSpPr>
          <p:cNvPr id="15" name="Connector 14"/>
          <p:cNvCxnSpPr/>
          <p:nvPr/>
        </p:nvCxnSpPr>
        <p:spPr>
          <a:xfrm flipV="1">
            <a:off x="2651760" y="1133766"/>
            <a:ext cx="2082016" cy="27522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706344" y="1106334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V="1">
            <a:off x="2562818" y="2241994"/>
            <a:ext cx="2790627" cy="1091705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326013" y="2214562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2688" y="1989531"/>
            <a:ext cx="128930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1989531"/>
            <a:ext cx="1289304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rubbish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" y="4220667"/>
            <a:ext cx="128930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220667"/>
            <a:ext cx="1289304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recycle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62288" y="502920"/>
            <a:ext cx="2651760" cy="41879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45168" y="649224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3d6be7a0526915e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9656" y="813816"/>
            <a:ext cx="2097024" cy="1179576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9514840" y="2029968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14840" y="2029968"/>
            <a:ext cx="548640" cy="256032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D5A80"/>
                </a:solidFill>
                <a:latin typeface="Calibri"/>
              </a:rPr>
              <a:t>paper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56698" y="2029968"/>
            <a:ext cx="6629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56698" y="2029968"/>
            <a:ext cx="662940" cy="256032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D5A80"/>
                </a:solidFill>
                <a:latin typeface="Calibri"/>
              </a:rPr>
              <a:t>plastic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12856" y="2029968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12856" y="2029968"/>
            <a:ext cx="548640" cy="256032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D5A80"/>
                </a:solidFill>
                <a:latin typeface="Calibri"/>
              </a:rPr>
              <a:t>food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08592" y="241401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D5A80"/>
                </a:solidFill>
                <a:latin typeface="Calibri"/>
              </a:rPr>
              <a:t>Where does the bottle go?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99448" y="2761488"/>
            <a:ext cx="1143000" cy="571500"/>
          </a:xfrm>
          <a:prstGeom prst="roundRect">
            <a:avLst>
              <a:gd name="adj" fmla="val 12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dd5413b8ad52a92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6024" y="2798064"/>
            <a:ext cx="1069848" cy="498348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9384030" y="3369564"/>
            <a:ext cx="973836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84030" y="3369564"/>
            <a:ext cx="973836" cy="237744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newspaper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533888" y="2761488"/>
            <a:ext cx="1143000" cy="571500"/>
          </a:xfrm>
          <a:prstGeom prst="roundRect">
            <a:avLst>
              <a:gd name="adj" fmla="val 12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fd50ff8599fc99d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70464" y="2798064"/>
            <a:ext cx="1069848" cy="498348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10831068" y="3369564"/>
            <a:ext cx="54864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831068" y="3369564"/>
            <a:ext cx="548640" cy="237744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box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299448" y="3662172"/>
            <a:ext cx="1143000" cy="571500"/>
          </a:xfrm>
          <a:prstGeom prst="roundRect">
            <a:avLst>
              <a:gd name="adj" fmla="val 12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52e77478199a340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36024" y="3698748"/>
            <a:ext cx="1069848" cy="498348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9500616" y="4270248"/>
            <a:ext cx="74066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0616" y="4270248"/>
            <a:ext cx="740664" cy="237744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bottle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533888" y="3662172"/>
            <a:ext cx="1143000" cy="571500"/>
          </a:xfrm>
          <a:prstGeom prst="roundRect">
            <a:avLst>
              <a:gd name="adj" fmla="val 12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22cfd6dcd6cb74a3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70464" y="3698748"/>
            <a:ext cx="1069848" cy="498348"/>
          </a:xfrm>
          <a:prstGeom prst="rect">
            <a:avLst/>
          </a:prstGeom>
        </p:spPr>
      </p:pic>
      <p:sp>
        <p:nvSpPr>
          <p:cNvPr id="47" name="Rounded Rectangle 46"/>
          <p:cNvSpPr/>
          <p:nvPr/>
        </p:nvSpPr>
        <p:spPr>
          <a:xfrm>
            <a:off x="10540746" y="4270248"/>
            <a:ext cx="112928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540746" y="4270248"/>
            <a:ext cx="1129284" cy="237744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banana peel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" y="5522976"/>
            <a:ext cx="10728655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1248" y="577900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A9D8F"/>
                </a:solidFill>
                <a:latin typeface="Calibri"/>
              </a:rPr>
              <a:t>♻ Recycling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" y="6071616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7A8A"/>
                </a:solidFill>
                <a:latin typeface="Calibri"/>
              </a:rPr>
              <a:t>bottle to bottle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145258" y="5577840"/>
            <a:ext cx="1048512" cy="786384"/>
          </a:xfrm>
          <a:prstGeom prst="roundRect">
            <a:avLst>
              <a:gd name="adj" fmla="val 12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84190ca8977f92d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81834" y="5614416"/>
            <a:ext cx="975360" cy="713232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2011680" y="6355080"/>
            <a:ext cx="1315669" cy="237744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D5A80"/>
                </a:solidFill>
                <a:latin typeface="Calibri"/>
              </a:rPr>
              <a:t>full bottle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09061" y="579729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E8C3C"/>
                </a:solidFill>
                <a:latin typeface="Calibri"/>
              </a:rPr>
              <a:t>→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753535" y="5577840"/>
            <a:ext cx="1048512" cy="786384"/>
          </a:xfrm>
          <a:prstGeom prst="roundRect">
            <a:avLst>
              <a:gd name="adj" fmla="val 12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c8dd41a70ca9e283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90111" y="5614416"/>
            <a:ext cx="975360" cy="713232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3619957" y="6355080"/>
            <a:ext cx="1315669" cy="237744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D5A80"/>
                </a:solidFill>
                <a:latin typeface="Calibri"/>
              </a:rPr>
              <a:t>empty bottle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17338" y="579729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E8C3C"/>
                </a:solidFill>
                <a:latin typeface="Calibri"/>
              </a:rPr>
              <a:t>→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361812" y="5577840"/>
            <a:ext cx="1048512" cy="786384"/>
          </a:xfrm>
          <a:prstGeom prst="roundRect">
            <a:avLst>
              <a:gd name="adj" fmla="val 12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1206c89cf01c8a4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98388" y="5614416"/>
            <a:ext cx="975360" cy="713232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5228234" y="6355080"/>
            <a:ext cx="1315669" cy="237744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D5A80"/>
                </a:solidFill>
                <a:latin typeface="Calibri"/>
              </a:rPr>
              <a:t>recycling bin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25615" y="579729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E8C3C"/>
                </a:solidFill>
                <a:latin typeface="Calibri"/>
              </a:rPr>
              <a:t>→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970089" y="5577840"/>
            <a:ext cx="1048512" cy="786384"/>
          </a:xfrm>
          <a:prstGeom prst="roundRect">
            <a:avLst>
              <a:gd name="adj" fmla="val 12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62fe75549d39f44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06665" y="5614416"/>
            <a:ext cx="975360" cy="713232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6836511" y="6355080"/>
            <a:ext cx="1315669" cy="237744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D5A80"/>
                </a:solidFill>
                <a:latin typeface="Calibri"/>
              </a:rPr>
              <a:t>collected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133892" y="579729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E8C3C"/>
                </a:solidFill>
                <a:latin typeface="Calibri"/>
              </a:rPr>
              <a:t>→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578366" y="5577840"/>
            <a:ext cx="1048512" cy="786384"/>
          </a:xfrm>
          <a:prstGeom prst="roundRect">
            <a:avLst>
              <a:gd name="adj" fmla="val 12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6fc83aa340e52643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14942" y="5614416"/>
            <a:ext cx="975360" cy="713232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8444788" y="6355080"/>
            <a:ext cx="1315669" cy="237744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D5A80"/>
                </a:solidFill>
                <a:latin typeface="Calibri"/>
              </a:rPr>
              <a:t>eco factory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742169" y="579729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E8C3C"/>
                </a:solidFill>
                <a:latin typeface="Calibri"/>
              </a:rPr>
              <a:t>→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186643" y="5577840"/>
            <a:ext cx="1048512" cy="786384"/>
          </a:xfrm>
          <a:prstGeom prst="roundRect">
            <a:avLst>
              <a:gd name="adj" fmla="val 12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4faab475d5eceb0b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223219" y="5614416"/>
            <a:ext cx="975360" cy="713232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10053065" y="6355080"/>
            <a:ext cx="1315669" cy="237744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D5A80"/>
                </a:solidFill>
                <a:latin typeface="Calibri"/>
              </a:rPr>
              <a:t>new bottles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5029200"/>
            <a:ext cx="10728655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138928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I paint with a </a:t>
            </a:r>
            <a:r>
              <a:rPr sz="3700" b="1">
                <a:solidFill>
                  <a:srgbClr val="2A9D8F"/>
                </a:solidFill>
                <a:latin typeface="Calibri"/>
              </a:rPr>
              <a:t>paintbrush</a:t>
            </a:r>
            <a:r>
              <a:rPr sz="3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15172" y="4773168"/>
            <a:ext cx="2304077" cy="310896"/>
          </a:xfrm>
          <a:prstGeom prst="roundRect">
            <a:avLst>
              <a:gd name="adj" fmla="val 45000"/>
            </a:avLst>
          </a:prstGeom>
          <a:solidFill>
            <a:srgbClr val="FFF4D6"/>
          </a:solidFill>
          <a:ln w="15875">
            <a:solidFill>
              <a:srgbClr val="F2C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15172" y="4773168"/>
            <a:ext cx="2304077" cy="310896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0765A"/>
                </a:solidFill>
                <a:latin typeface="Calibri"/>
              </a:rPr>
              <a:t>paint·brush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3  ·  8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in-paintbru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728" y="1653969"/>
            <a:ext cx="5111496" cy="163896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09340" y="320040"/>
            <a:ext cx="1536000" cy="1682496"/>
          </a:xfrm>
          <a:prstGeom prst="roundRect">
            <a:avLst>
              <a:gd name="adj" fmla="val 14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b0d92e12218e64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348" y="384048"/>
            <a:ext cx="1407984" cy="15544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52936" y="2551176"/>
            <a:ext cx="2048808" cy="1682496"/>
          </a:xfrm>
          <a:prstGeom prst="roundRect">
            <a:avLst>
              <a:gd name="adj" fmla="val 14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6de0a906f6d2af7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944" y="2615184"/>
            <a:ext cx="1920792" cy="155448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992124" y="2048256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124" y="2048256"/>
            <a:ext cx="1170432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canvas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" y="4279392"/>
            <a:ext cx="128930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279392"/>
            <a:ext cx="1289304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palette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62288" y="502920"/>
            <a:ext cx="2651760" cy="2680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345168" y="649224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08592" y="81381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D5A80"/>
                </a:solidFill>
                <a:latin typeface="Calibri"/>
              </a:rPr>
              <a:t>Three kinds of paint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99448" y="1161288"/>
            <a:ext cx="731520" cy="1016000"/>
          </a:xfrm>
          <a:prstGeom prst="roundRect">
            <a:avLst>
              <a:gd name="adj" fmla="val 12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b6a9a6297715350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6024" y="1197864"/>
            <a:ext cx="658368" cy="942848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9390888" y="2213864"/>
            <a:ext cx="54864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90888" y="2213864"/>
            <a:ext cx="548640" cy="237744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oil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22408" y="1161288"/>
            <a:ext cx="731520" cy="1016000"/>
          </a:xfrm>
          <a:prstGeom prst="roundRect">
            <a:avLst>
              <a:gd name="adj" fmla="val 12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543b70cc3c235e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58984" y="1197864"/>
            <a:ext cx="658368" cy="942848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10122408" y="2213864"/>
            <a:ext cx="7315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22408" y="2213864"/>
            <a:ext cx="731520" cy="237744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acrylic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45368" y="1161288"/>
            <a:ext cx="731520" cy="1016000"/>
          </a:xfrm>
          <a:prstGeom prst="roundRect">
            <a:avLst>
              <a:gd name="adj" fmla="val 12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f1846bfa012aecf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81944" y="1197864"/>
            <a:ext cx="658368" cy="942848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10945368" y="2213864"/>
            <a:ext cx="7315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45368" y="2213864"/>
            <a:ext cx="731520" cy="237744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watercolor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08592" y="2561336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Which kind of paint do you like the most?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5029200"/>
            <a:ext cx="10728655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138928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I do my homework at my </a:t>
            </a:r>
            <a:r>
              <a:rPr sz="3700" b="1">
                <a:solidFill>
                  <a:srgbClr val="2A9D8F"/>
                </a:solidFill>
                <a:latin typeface="Calibri"/>
              </a:rPr>
              <a:t>desk</a:t>
            </a:r>
            <a:r>
              <a:rPr sz="3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97652" y="4773168"/>
            <a:ext cx="1084599" cy="310896"/>
          </a:xfrm>
          <a:prstGeom prst="roundRect">
            <a:avLst>
              <a:gd name="adj" fmla="val 45000"/>
            </a:avLst>
          </a:prstGeom>
          <a:solidFill>
            <a:srgbClr val="FFF4D6"/>
          </a:solidFill>
          <a:ln w="15875">
            <a:solidFill>
              <a:srgbClr val="F2C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97652" y="4773168"/>
            <a:ext cx="1084599" cy="310896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0765A"/>
                </a:solidFill>
                <a:latin typeface="Calibri"/>
              </a:rPr>
              <a:t>desk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3  ·  9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in-de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728" y="1035844"/>
            <a:ext cx="5111496" cy="287521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02920" y="778577"/>
            <a:ext cx="2148840" cy="745991"/>
          </a:xfrm>
          <a:prstGeom prst="roundRect">
            <a:avLst>
              <a:gd name="adj" fmla="val 14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39c4a9be5d0926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842585"/>
            <a:ext cx="2020824" cy="617975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02920" y="2073208"/>
            <a:ext cx="2148840" cy="1391031"/>
          </a:xfrm>
          <a:prstGeom prst="roundRect">
            <a:avLst>
              <a:gd name="adj" fmla="val 14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57ef07a6a077e0b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2137216"/>
            <a:ext cx="2020824" cy="1263015"/>
          </a:xfrm>
          <a:prstGeom prst="rect">
            <a:avLst/>
          </a:prstGeom>
        </p:spPr>
      </p:pic>
      <p:cxnSp>
        <p:nvCxnSpPr>
          <p:cNvPr id="15" name="Connector 14"/>
          <p:cNvCxnSpPr/>
          <p:nvPr/>
        </p:nvCxnSpPr>
        <p:spPr>
          <a:xfrm>
            <a:off x="2651760" y="1151572"/>
            <a:ext cx="2344740" cy="1002018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969068" y="2126158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92124" y="1570288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2124" y="1570288"/>
            <a:ext cx="1170432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drawer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8620" y="3509959"/>
            <a:ext cx="2377440" cy="65836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620" y="3528247"/>
            <a:ext cx="2377440" cy="621792"/>
          </a:xfrm>
          <a:prstGeom prst="rect">
            <a:avLst/>
          </a:prstGeom>
          <a:noFill/>
        </p:spPr>
        <p:txBody>
          <a:bodyPr wrap="square" tIns="9144" bIns="9144" anchor="ctr">
            <a:spAutoFit/>
          </a:bodyPr>
          <a:lstStyle/>
          <a:p>
            <a:pPr algn="ctr"/>
            <a:r>
              <a:rPr sz="1500" b="1">
                <a:solidFill>
                  <a:srgbClr val="3D5A80"/>
                </a:solidFill>
                <a:latin typeface="Calibri"/>
              </a:rPr>
              <a:t>classroom</a:t>
            </a:r>
          </a:p>
          <a:p>
            <a:pPr algn="ctr"/>
            <a:r>
              <a:rPr sz="1150" b="1">
                <a:solidFill>
                  <a:srgbClr val="7B6BB0"/>
                </a:solidFill>
                <a:latin typeface="Calibri"/>
              </a:rPr>
              <a:t>How many desks are in the classroom?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62288" y="502920"/>
            <a:ext cx="2651760" cy="329412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345168" y="649224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8592" y="81381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The book is </a:t>
            </a:r>
            <a:r>
              <a:rPr sz="1500" b="1">
                <a:solidFill>
                  <a:srgbClr val="2A9D8F"/>
                </a:solidFill>
                <a:latin typeface="Calibri"/>
              </a:rPr>
              <a:t>on</a:t>
            </a:r>
            <a:r>
              <a:rPr sz="1300" b="0">
                <a:solidFill>
                  <a:srgbClr val="3D5A80"/>
                </a:solidFill>
                <a:latin typeface="Calibri"/>
              </a:rPr>
              <a:t> the desk.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8592" y="1197864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The bag is </a:t>
            </a:r>
            <a:r>
              <a:rPr sz="1500" b="1">
                <a:solidFill>
                  <a:srgbClr val="2A9D8F"/>
                </a:solidFill>
                <a:latin typeface="Calibri"/>
              </a:rPr>
              <a:t>under</a:t>
            </a:r>
            <a:r>
              <a:rPr sz="1300" b="0">
                <a:solidFill>
                  <a:srgbClr val="3D5A80"/>
                </a:solidFill>
                <a:latin typeface="Calibri"/>
              </a:rPr>
              <a:t> the desk.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8592" y="158191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The pencil is </a:t>
            </a:r>
            <a:r>
              <a:rPr sz="1500" b="1">
                <a:solidFill>
                  <a:srgbClr val="2A9D8F"/>
                </a:solidFill>
                <a:latin typeface="Calibri"/>
              </a:rPr>
              <a:t>in</a:t>
            </a:r>
            <a:r>
              <a:rPr sz="1300" b="0">
                <a:solidFill>
                  <a:srgbClr val="3D5A80"/>
                </a:solidFill>
                <a:latin typeface="Calibri"/>
              </a:rPr>
              <a:t> the drawer.</a:t>
            </a:r>
          </a:p>
        </p:txBody>
      </p:sp>
      <p:pic>
        <p:nvPicPr>
          <p:cNvPr id="26" name="Picture 25" descr="eb5260888c7626a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9448" y="1965960"/>
            <a:ext cx="2377440" cy="133731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308592" y="339471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What is on your desk?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5029200"/>
            <a:ext cx="10728655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138928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I take a </a:t>
            </a:r>
            <a:r>
              <a:rPr sz="3700" b="1">
                <a:solidFill>
                  <a:srgbClr val="2A9D8F"/>
                </a:solidFill>
                <a:latin typeface="Calibri"/>
              </a:rPr>
              <a:t>bath</a:t>
            </a:r>
            <a:r>
              <a:rPr sz="3200" b="0">
                <a:solidFill>
                  <a:srgbClr val="3D5A80"/>
                </a:solidFill>
                <a:latin typeface="Calibri"/>
              </a:rPr>
              <a:t> every night.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73222" y="4773168"/>
            <a:ext cx="1077694" cy="310896"/>
          </a:xfrm>
          <a:prstGeom prst="roundRect">
            <a:avLst>
              <a:gd name="adj" fmla="val 45000"/>
            </a:avLst>
          </a:prstGeom>
          <a:solidFill>
            <a:srgbClr val="FFF4D6"/>
          </a:solidFill>
          <a:ln w="15875">
            <a:solidFill>
              <a:srgbClr val="F2C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73222" y="4773168"/>
            <a:ext cx="1077694" cy="310896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0765A"/>
                </a:solidFill>
                <a:latin typeface="Calibri"/>
              </a:rPr>
              <a:t>bath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3  ·  10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in-ba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728" y="691322"/>
            <a:ext cx="5111496" cy="3564259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8234172" y="-86868"/>
            <a:ext cx="1051560" cy="1051560"/>
          </a:xfrm>
          <a:prstGeom prst="ellipse">
            <a:avLst/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8784ea0e2c747ed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9892" y="-41148"/>
            <a:ext cx="960120" cy="9601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02920" y="464756"/>
            <a:ext cx="2148840" cy="1391476"/>
          </a:xfrm>
          <a:prstGeom prst="roundRect">
            <a:avLst>
              <a:gd name="adj" fmla="val 14000"/>
            </a:avLst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745867c0a8490d7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528764"/>
            <a:ext cx="2020824" cy="126346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02920" y="2551176"/>
            <a:ext cx="2148840" cy="1391476"/>
          </a:xfrm>
          <a:prstGeom prst="roundRect">
            <a:avLst>
              <a:gd name="adj" fmla="val 14000"/>
            </a:avLst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b56847c9478172c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2615184"/>
            <a:ext cx="2020824" cy="1263460"/>
          </a:xfrm>
          <a:prstGeom prst="rect">
            <a:avLst/>
          </a:prstGeom>
        </p:spPr>
      </p:pic>
      <p:cxnSp>
        <p:nvCxnSpPr>
          <p:cNvPr id="17" name="Connector 16"/>
          <p:cNvCxnSpPr/>
          <p:nvPr/>
        </p:nvCxnSpPr>
        <p:spPr>
          <a:xfrm>
            <a:off x="2651760" y="1160494"/>
            <a:ext cx="2965472" cy="1407374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589800" y="2540436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2900" y="1901952"/>
            <a:ext cx="2468880" cy="5120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7764" y="1901952"/>
            <a:ext cx="2359152" cy="512064"/>
          </a:xfrm>
          <a:prstGeom prst="rect">
            <a:avLst/>
          </a:prstGeom>
          <a:noFill/>
        </p:spPr>
        <p:txBody>
          <a:bodyPr wrap="square" anchor="ctr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D5A80"/>
                </a:solidFill>
                <a:latin typeface="Calibri"/>
              </a:rPr>
              <a:t>The plug is </a:t>
            </a:r>
            <a:r>
              <a:rPr sz="1400" b="1">
                <a:solidFill>
                  <a:srgbClr val="2A9D8F"/>
                </a:solidFill>
                <a:latin typeface="Calibri"/>
              </a:rPr>
              <a:t>in</a:t>
            </a:r>
            <a:r>
              <a:rPr sz="1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" y="3988372"/>
            <a:ext cx="2468880" cy="5120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7764" y="3988372"/>
            <a:ext cx="2359152" cy="512064"/>
          </a:xfrm>
          <a:prstGeom prst="rect">
            <a:avLst/>
          </a:prstGeom>
          <a:noFill/>
        </p:spPr>
        <p:txBody>
          <a:bodyPr wrap="square" anchor="ctr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D5A80"/>
                </a:solidFill>
                <a:latin typeface="Calibri"/>
              </a:rPr>
              <a:t>The plug is </a:t>
            </a:r>
            <a:r>
              <a:rPr sz="1400" b="1">
                <a:solidFill>
                  <a:srgbClr val="2A9D8F"/>
                </a:solidFill>
                <a:latin typeface="Calibri"/>
              </a:rPr>
              <a:t>out</a:t>
            </a:r>
            <a:r>
              <a:rPr sz="1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62288" y="502920"/>
            <a:ext cx="2651760" cy="36050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45168" y="649224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08592" y="813816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I take a </a:t>
            </a:r>
            <a:r>
              <a:rPr sz="1500" b="1">
                <a:solidFill>
                  <a:srgbClr val="2A9D8F"/>
                </a:solidFill>
                <a:latin typeface="Calibri"/>
              </a:rPr>
              <a:t>bath</a:t>
            </a:r>
            <a:r>
              <a:rPr sz="13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2" y="1271016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I take a </a:t>
            </a:r>
            <a:r>
              <a:rPr sz="1500" b="1">
                <a:solidFill>
                  <a:srgbClr val="2A9D8F"/>
                </a:solidFill>
                <a:latin typeface="Calibri"/>
              </a:rPr>
              <a:t>shower</a:t>
            </a:r>
            <a:r>
              <a:rPr sz="13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pic>
        <p:nvPicPr>
          <p:cNvPr id="27" name="Picture 26" descr="93c9d1fbc68cbdd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9448" y="1728216"/>
            <a:ext cx="2377440" cy="133731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9482328" y="3102102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82328" y="3102102"/>
            <a:ext cx="822960" cy="256032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bath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671048" y="3102102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71048" y="3102102"/>
            <a:ext cx="822960" cy="256032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shower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08592" y="348615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Do you like a bath or a shower?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5029200"/>
            <a:ext cx="10728655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138928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My </a:t>
            </a:r>
            <a:r>
              <a:rPr sz="3700" b="1">
                <a:solidFill>
                  <a:srgbClr val="2A9D8F"/>
                </a:solidFill>
                <a:latin typeface="Calibri"/>
              </a:rPr>
              <a:t>lantern</a:t>
            </a:r>
            <a:r>
              <a:rPr sz="3200" b="0">
                <a:solidFill>
                  <a:srgbClr val="3D5A80"/>
                </a:solidFill>
                <a:latin typeface="Calibri"/>
              </a:rPr>
              <a:t> shows me the way.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06945" y="4773168"/>
            <a:ext cx="1590972" cy="310896"/>
          </a:xfrm>
          <a:prstGeom prst="roundRect">
            <a:avLst>
              <a:gd name="adj" fmla="val 45000"/>
            </a:avLst>
          </a:prstGeom>
          <a:solidFill>
            <a:srgbClr val="FFF4D6"/>
          </a:solidFill>
          <a:ln w="15875">
            <a:solidFill>
              <a:srgbClr val="F2C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06945" y="4773168"/>
            <a:ext cx="1590972" cy="310896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0765A"/>
                </a:solidFill>
                <a:latin typeface="Calibri"/>
              </a:rPr>
              <a:t>lan·tern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3  ·  11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in-lante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5145" y="548640"/>
            <a:ext cx="2958662" cy="384962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02920" y="591499"/>
            <a:ext cx="2148840" cy="1389570"/>
          </a:xfrm>
          <a:prstGeom prst="roundRect">
            <a:avLst>
              <a:gd name="adj" fmla="val 14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684b8cb01f45e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55507"/>
            <a:ext cx="2020824" cy="126155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02920" y="2529709"/>
            <a:ext cx="2148840" cy="1432503"/>
          </a:xfrm>
          <a:prstGeom prst="roundRect">
            <a:avLst>
              <a:gd name="adj" fmla="val 14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7aea9543d27ee30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2593717"/>
            <a:ext cx="2020824" cy="1304487"/>
          </a:xfrm>
          <a:prstGeom prst="rect">
            <a:avLst/>
          </a:prstGeom>
        </p:spPr>
      </p:pic>
      <p:cxnSp>
        <p:nvCxnSpPr>
          <p:cNvPr id="15" name="Connector 14"/>
          <p:cNvCxnSpPr/>
          <p:nvPr/>
        </p:nvCxnSpPr>
        <p:spPr>
          <a:xfrm flipV="1">
            <a:off x="2651760" y="1008982"/>
            <a:ext cx="2307544" cy="277302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931872" y="981550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V="1">
            <a:off x="2651760" y="2749478"/>
            <a:ext cx="2595322" cy="496482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219650" y="2722046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92124" y="2026789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2124" y="2026789"/>
            <a:ext cx="1170432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handle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8700" y="400793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8700" y="4007932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light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62288" y="502920"/>
            <a:ext cx="2651760" cy="40599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45168" y="649224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08592" y="81381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D5A80"/>
                </a:solidFill>
                <a:latin typeface="Calibri"/>
              </a:rPr>
              <a:t>Lanterns around the world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99448" y="1161288"/>
            <a:ext cx="1143000" cy="1143000"/>
          </a:xfrm>
          <a:prstGeom prst="roundRect">
            <a:avLst>
              <a:gd name="adj" fmla="val 12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35110099c5166ec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6024" y="1197864"/>
            <a:ext cx="1069848" cy="1069848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9596628" y="2340864"/>
            <a:ext cx="54864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96628" y="2340864"/>
            <a:ext cx="548640" cy="237744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UK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533888" y="1161288"/>
            <a:ext cx="1143000" cy="1143000"/>
          </a:xfrm>
          <a:prstGeom prst="roundRect">
            <a:avLst>
              <a:gd name="adj" fmla="val 12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6bb96fa16f1b174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0464" y="1197864"/>
            <a:ext cx="1069848" cy="1069848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10773918" y="2340864"/>
            <a:ext cx="66294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73918" y="2340864"/>
            <a:ext cx="662940" cy="237744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China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99448" y="2633472"/>
            <a:ext cx="1143000" cy="1143000"/>
          </a:xfrm>
          <a:prstGeom prst="roundRect">
            <a:avLst>
              <a:gd name="adj" fmla="val 12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3763123ec77b083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36024" y="2670048"/>
            <a:ext cx="1069848" cy="1069848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9422892" y="3813048"/>
            <a:ext cx="896112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22892" y="3813048"/>
            <a:ext cx="896112" cy="237744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Thailand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533888" y="2633472"/>
            <a:ext cx="1143000" cy="1143000"/>
          </a:xfrm>
          <a:prstGeom prst="roundRect">
            <a:avLst>
              <a:gd name="adj" fmla="val 12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1d43d674a85cfd7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70464" y="2670048"/>
            <a:ext cx="1069848" cy="1069848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10831068" y="3813048"/>
            <a:ext cx="54864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831068" y="3813048"/>
            <a:ext cx="548640" cy="237744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USA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08592" y="416052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Where is this lantern from?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5029200"/>
            <a:ext cx="10728655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138928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The </a:t>
            </a:r>
            <a:r>
              <a:rPr sz="3700" b="1">
                <a:solidFill>
                  <a:srgbClr val="2A9D8F"/>
                </a:solidFill>
                <a:latin typeface="Calibri"/>
              </a:rPr>
              <a:t>washing machine</a:t>
            </a:r>
            <a:r>
              <a:rPr sz="3200" b="0">
                <a:solidFill>
                  <a:srgbClr val="3D5A80"/>
                </a:solidFill>
                <a:latin typeface="Calibri"/>
              </a:rPr>
              <a:t> washes my clothes.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25165" y="4773168"/>
            <a:ext cx="3563262" cy="310896"/>
          </a:xfrm>
          <a:prstGeom prst="roundRect">
            <a:avLst>
              <a:gd name="adj" fmla="val 45000"/>
            </a:avLst>
          </a:prstGeom>
          <a:solidFill>
            <a:srgbClr val="FFF4D6"/>
          </a:solidFill>
          <a:ln w="15875">
            <a:solidFill>
              <a:srgbClr val="F2C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25165" y="4773168"/>
            <a:ext cx="3563262" cy="310896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0765A"/>
                </a:solidFill>
                <a:latin typeface="Calibri"/>
              </a:rPr>
              <a:t>wash·ing ma·chine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3  ·  12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in-washing-mach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295" y="548640"/>
            <a:ext cx="3832361" cy="384962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02920" y="885274"/>
            <a:ext cx="2148840" cy="552028"/>
          </a:xfrm>
          <a:prstGeom prst="roundRect">
            <a:avLst>
              <a:gd name="adj" fmla="val 14000"/>
            </a:avLst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4034b45cff8f48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949282"/>
            <a:ext cx="2020824" cy="42401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70902" y="1985942"/>
            <a:ext cx="2012875" cy="1682496"/>
          </a:xfrm>
          <a:prstGeom prst="roundRect">
            <a:avLst>
              <a:gd name="adj" fmla="val 14000"/>
            </a:avLst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7588386085ff882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910" y="2049950"/>
            <a:ext cx="1884859" cy="1554480"/>
          </a:xfrm>
          <a:prstGeom prst="rect">
            <a:avLst/>
          </a:prstGeom>
        </p:spPr>
      </p:pic>
      <p:cxnSp>
        <p:nvCxnSpPr>
          <p:cNvPr id="15" name="Connector 14"/>
          <p:cNvCxnSpPr/>
          <p:nvPr/>
        </p:nvCxnSpPr>
        <p:spPr>
          <a:xfrm flipV="1">
            <a:off x="2651760" y="973204"/>
            <a:ext cx="2267384" cy="188084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891712" y="945772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V="1">
            <a:off x="2583777" y="2390182"/>
            <a:ext cx="2336488" cy="437008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892833" y="2362750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2688" y="1483022"/>
            <a:ext cx="128930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1483022"/>
            <a:ext cx="1289304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buttons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8699" y="371415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8699" y="3714158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spin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62288" y="502920"/>
            <a:ext cx="2651760" cy="274548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45168" y="649224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406c9c1a358605f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9448" y="813816"/>
            <a:ext cx="2377440" cy="133731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253728" y="224256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98A1A"/>
                </a:solidFill>
                <a:latin typeface="Calibri"/>
              </a:rPr>
              <a:t>dirty</a:t>
            </a:r>
            <a:r>
              <a:rPr sz="1200" b="0">
                <a:solidFill>
                  <a:srgbClr val="6B7A8A"/>
                </a:solidFill>
                <a:latin typeface="Calibri"/>
              </a:rPr>
              <a:t>  →  </a:t>
            </a:r>
            <a:r>
              <a:rPr sz="1200" b="1">
                <a:solidFill>
                  <a:srgbClr val="E0765A"/>
                </a:solidFill>
                <a:latin typeface="Calibri"/>
              </a:rPr>
              <a:t>wash</a:t>
            </a:r>
            <a:r>
              <a:rPr sz="1200" b="0">
                <a:solidFill>
                  <a:srgbClr val="6B7A8A"/>
                </a:solidFill>
                <a:latin typeface="Calibri"/>
              </a:rPr>
              <a:t>  →  </a:t>
            </a:r>
            <a:r>
              <a:rPr sz="1200" b="1">
                <a:solidFill>
                  <a:srgbClr val="2F80ED"/>
                </a:solidFill>
                <a:latin typeface="Calibri"/>
              </a:rPr>
              <a:t>clean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08592" y="2626614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Are your clothes dirty or clean?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5029200"/>
            <a:ext cx="10728655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138928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Mum makes tea in the </a:t>
            </a:r>
            <a:r>
              <a:rPr sz="3700" b="1">
                <a:solidFill>
                  <a:srgbClr val="2A9D8F"/>
                </a:solidFill>
                <a:latin typeface="Calibri"/>
              </a:rPr>
              <a:t>teapot</a:t>
            </a:r>
            <a:r>
              <a:rPr sz="3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98634" y="4773168"/>
            <a:ext cx="1476236" cy="310896"/>
          </a:xfrm>
          <a:prstGeom prst="roundRect">
            <a:avLst>
              <a:gd name="adj" fmla="val 45000"/>
            </a:avLst>
          </a:prstGeom>
          <a:solidFill>
            <a:srgbClr val="FFF4D6"/>
          </a:solidFill>
          <a:ln w="15875">
            <a:solidFill>
              <a:srgbClr val="F2C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98634" y="4773168"/>
            <a:ext cx="1476236" cy="310896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0765A"/>
                </a:solidFill>
                <a:latin typeface="Calibri"/>
              </a:rPr>
              <a:t>tea·pot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3  ·  13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in-teapot-v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3704" y="548640"/>
            <a:ext cx="4661544" cy="384962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15310" y="528923"/>
            <a:ext cx="1724059" cy="1682496"/>
          </a:xfrm>
          <a:prstGeom prst="roundRect">
            <a:avLst>
              <a:gd name="adj" fmla="val 14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94e3393790c441f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318" y="592931"/>
            <a:ext cx="1596043" cy="15544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02920" y="2760059"/>
            <a:ext cx="2148840" cy="1264729"/>
          </a:xfrm>
          <a:prstGeom prst="roundRect">
            <a:avLst>
              <a:gd name="adj" fmla="val 14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2918f8d5a57ebae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2824067"/>
            <a:ext cx="2020824" cy="1136713"/>
          </a:xfrm>
          <a:prstGeom prst="rect">
            <a:avLst/>
          </a:prstGeom>
        </p:spPr>
      </p:pic>
      <p:cxnSp>
        <p:nvCxnSpPr>
          <p:cNvPr id="15" name="Connector 14"/>
          <p:cNvCxnSpPr/>
          <p:nvPr/>
        </p:nvCxnSpPr>
        <p:spPr>
          <a:xfrm>
            <a:off x="2439369" y="1370171"/>
            <a:ext cx="1560406" cy="350324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3972343" y="1693063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28699" y="2257139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8699" y="2257139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spout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" y="4070508"/>
            <a:ext cx="128930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070508"/>
            <a:ext cx="1289304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tea bag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62288" y="502920"/>
            <a:ext cx="2651760" cy="4096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345168" y="649224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e93d6cb42fa7b99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9448" y="813816"/>
            <a:ext cx="2377440" cy="133731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9953245" y="2187702"/>
            <a:ext cx="594359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53245" y="2187702"/>
            <a:ext cx="594359" cy="256032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D5A80"/>
                </a:solidFill>
                <a:latin typeface="Calibri"/>
              </a:rPr>
              <a:t>teapot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63606" y="2187702"/>
            <a:ext cx="8001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63606" y="2187702"/>
            <a:ext cx="800100" cy="256032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D5A80"/>
                </a:solidFill>
                <a:latin typeface="Calibri"/>
              </a:rPr>
              <a:t>hot water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25228" y="2571750"/>
            <a:ext cx="1325880" cy="994410"/>
          </a:xfrm>
          <a:prstGeom prst="roundRect">
            <a:avLst>
              <a:gd name="adj" fmla="val 12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738d0f56b55ee21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61804" y="2608326"/>
            <a:ext cx="1252728" cy="92125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308592" y="363931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Do you like tea?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08592" y="392277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Do you take sugar?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08592" y="4206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Do you take milk?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5029200"/>
            <a:ext cx="10728655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138928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I boil water in the </a:t>
            </a:r>
            <a:r>
              <a:rPr sz="3700" b="1">
                <a:solidFill>
                  <a:srgbClr val="2A9D8F"/>
                </a:solidFill>
                <a:latin typeface="Calibri"/>
              </a:rPr>
              <a:t>kettle</a:t>
            </a:r>
            <a:r>
              <a:rPr sz="3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93556" y="4773168"/>
            <a:ext cx="1289268" cy="310896"/>
          </a:xfrm>
          <a:prstGeom prst="roundRect">
            <a:avLst>
              <a:gd name="adj" fmla="val 45000"/>
            </a:avLst>
          </a:prstGeom>
          <a:solidFill>
            <a:srgbClr val="FFF4D6"/>
          </a:solidFill>
          <a:ln w="15875">
            <a:solidFill>
              <a:srgbClr val="F2C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93556" y="4773168"/>
            <a:ext cx="1289268" cy="310896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0765A"/>
                </a:solidFill>
                <a:latin typeface="Calibri"/>
              </a:rPr>
              <a:t>ket·tle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3  ·  14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in-kett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4959" y="548640"/>
            <a:ext cx="4339033" cy="384962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78376" y="360768"/>
            <a:ext cx="1797927" cy="1682496"/>
          </a:xfrm>
          <a:prstGeom prst="roundRect">
            <a:avLst>
              <a:gd name="adj" fmla="val 14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6f7e1075eab2222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384" y="424776"/>
            <a:ext cx="1669911" cy="15544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02920" y="2591904"/>
            <a:ext cx="2148840" cy="1601039"/>
          </a:xfrm>
          <a:prstGeom prst="roundRect">
            <a:avLst>
              <a:gd name="adj" fmla="val 14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647fbd69a35d657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2655912"/>
            <a:ext cx="2020824" cy="1473023"/>
          </a:xfrm>
          <a:prstGeom prst="rect">
            <a:avLst/>
          </a:prstGeom>
        </p:spPr>
      </p:pic>
      <p:cxnSp>
        <p:nvCxnSpPr>
          <p:cNvPr id="15" name="Connector 14"/>
          <p:cNvCxnSpPr/>
          <p:nvPr/>
        </p:nvCxnSpPr>
        <p:spPr>
          <a:xfrm flipV="1">
            <a:off x="2476303" y="1055885"/>
            <a:ext cx="1688960" cy="146131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137831" y="1028453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28699" y="2088984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8699" y="2088984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steam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" y="4238663"/>
            <a:ext cx="176479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4238663"/>
            <a:ext cx="1764792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cold to hot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62288" y="502920"/>
            <a:ext cx="2651760" cy="334885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345168" y="649224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8592" y="81381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The water is </a:t>
            </a:r>
            <a:r>
              <a:rPr sz="1500" b="1">
                <a:solidFill>
                  <a:srgbClr val="2A9D8F"/>
                </a:solidFill>
                <a:latin typeface="Calibri"/>
              </a:rPr>
              <a:t>cold</a:t>
            </a:r>
            <a:r>
              <a:rPr sz="13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62288" y="1161288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E8C3C"/>
                </a:solidFill>
                <a:latin typeface="Calibri"/>
              </a:rPr>
              <a:t>↓  2 minutes  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8592" y="152704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The water is </a:t>
            </a:r>
            <a:r>
              <a:rPr sz="1500" b="1">
                <a:solidFill>
                  <a:srgbClr val="2A9D8F"/>
                </a:solidFill>
                <a:latin typeface="Calibri"/>
              </a:rPr>
              <a:t>hot</a:t>
            </a:r>
            <a:r>
              <a:rPr sz="13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pic>
        <p:nvPicPr>
          <p:cNvPr id="26" name="Picture 25" descr="d857628ffc561d8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9448" y="1911096"/>
            <a:ext cx="2377440" cy="1062855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9482328" y="3010527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82328" y="3010527"/>
            <a:ext cx="822960" cy="256032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cold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671048" y="3010527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71048" y="3010527"/>
            <a:ext cx="822960" cy="256032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hot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08592" y="3394575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A9D8F"/>
                </a:solidFill>
                <a:latin typeface="Calibri"/>
              </a:rPr>
              <a:t>Careful!</a:t>
            </a:r>
            <a:r>
              <a:rPr sz="1300" b="0">
                <a:solidFill>
                  <a:srgbClr val="3D5A80"/>
                </a:solidFill>
                <a:latin typeface="Calibri"/>
              </a:rPr>
              <a:t> Do not touch.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5029200"/>
            <a:ext cx="10728655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138928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I play the </a:t>
            </a:r>
            <a:r>
              <a:rPr sz="3700" b="1">
                <a:solidFill>
                  <a:srgbClr val="2A9D8F"/>
                </a:solidFill>
                <a:latin typeface="Calibri"/>
              </a:rPr>
              <a:t>guitar</a:t>
            </a:r>
            <a:r>
              <a:rPr sz="3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3140" y="4773168"/>
            <a:ext cx="1330563" cy="310896"/>
          </a:xfrm>
          <a:prstGeom prst="roundRect">
            <a:avLst>
              <a:gd name="adj" fmla="val 45000"/>
            </a:avLst>
          </a:prstGeom>
          <a:solidFill>
            <a:srgbClr val="FFF4D6"/>
          </a:solidFill>
          <a:ln w="15875">
            <a:solidFill>
              <a:srgbClr val="F2C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83140" y="4773168"/>
            <a:ext cx="1330563" cy="310896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0765A"/>
                </a:solidFill>
                <a:latin typeface="Calibri"/>
              </a:rPr>
              <a:t>gui·tar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3  ·  15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in-guit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9224" y="548640"/>
            <a:ext cx="2750504" cy="384962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96003" y="528923"/>
            <a:ext cx="1362674" cy="1682496"/>
          </a:xfrm>
          <a:prstGeom prst="roundRect">
            <a:avLst>
              <a:gd name="adj" fmla="val 14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8599d04f085478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011" y="592931"/>
            <a:ext cx="1234658" cy="15544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02920" y="2760059"/>
            <a:ext cx="2148840" cy="1264729"/>
          </a:xfrm>
          <a:prstGeom prst="roundRect">
            <a:avLst>
              <a:gd name="adj" fmla="val 14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c3770545bfe955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2824067"/>
            <a:ext cx="2020824" cy="1136713"/>
          </a:xfrm>
          <a:prstGeom prst="rect">
            <a:avLst/>
          </a:prstGeom>
        </p:spPr>
      </p:pic>
      <p:cxnSp>
        <p:nvCxnSpPr>
          <p:cNvPr id="15" name="Connector 14"/>
          <p:cNvCxnSpPr/>
          <p:nvPr/>
        </p:nvCxnSpPr>
        <p:spPr>
          <a:xfrm>
            <a:off x="2258677" y="1370171"/>
            <a:ext cx="3303113" cy="1407257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534358" y="2749996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2651760" y="3392423"/>
            <a:ext cx="4081618" cy="40187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705946" y="3405178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2688" y="2257139"/>
            <a:ext cx="128930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2257139"/>
            <a:ext cx="1289304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strings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" y="4070508"/>
            <a:ext cx="128930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070508"/>
            <a:ext cx="1289304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speaker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62288" y="502920"/>
            <a:ext cx="2651760" cy="3730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45168" y="649224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08592" y="81381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D5A80"/>
                </a:solidFill>
                <a:latin typeface="Calibri"/>
              </a:rPr>
              <a:t>Musical instruments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99448" y="1161288"/>
            <a:ext cx="1143000" cy="1143000"/>
          </a:xfrm>
          <a:prstGeom prst="roundRect">
            <a:avLst>
              <a:gd name="adj" fmla="val 12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be3bb79808f4a5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6024" y="1197864"/>
            <a:ext cx="1069848" cy="1069848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9578340" y="2340864"/>
            <a:ext cx="585216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78340" y="2340864"/>
            <a:ext cx="585216" cy="237744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drum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533888" y="1161288"/>
            <a:ext cx="1143000" cy="1143000"/>
          </a:xfrm>
          <a:prstGeom prst="roundRect">
            <a:avLst>
              <a:gd name="adj" fmla="val 12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928be6d2db515b9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0464" y="1197864"/>
            <a:ext cx="1069848" cy="1069848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10773918" y="2340864"/>
            <a:ext cx="66294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73918" y="2340864"/>
            <a:ext cx="662940" cy="237744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piano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99448" y="2633472"/>
            <a:ext cx="1143000" cy="1143000"/>
          </a:xfrm>
          <a:prstGeom prst="roundRect">
            <a:avLst>
              <a:gd name="adj" fmla="val 12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450e4ffab74bbed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36024" y="2670048"/>
            <a:ext cx="1069848" cy="1069848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9500616" y="3813048"/>
            <a:ext cx="74066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0616" y="3813048"/>
            <a:ext cx="740664" cy="237744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violin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533888" y="2633472"/>
            <a:ext cx="1143000" cy="1143000"/>
          </a:xfrm>
          <a:prstGeom prst="roundRect">
            <a:avLst>
              <a:gd name="adj" fmla="val 12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72b0d51184040e9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70464" y="2670048"/>
            <a:ext cx="1069848" cy="1069848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10773918" y="3813048"/>
            <a:ext cx="66294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773918" y="3813048"/>
            <a:ext cx="662940" cy="237744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flute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s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926080" y="502920"/>
            <a:ext cx="6339535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0" y="594360"/>
            <a:ext cx="6339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D5A80"/>
                </a:solidFill>
                <a:latin typeface="Calibri"/>
              </a:rPr>
              <a:t>Worksheet 1 · Circle &amp; Match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00200"/>
            <a:ext cx="11460175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1737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A9D8F"/>
                </a:solidFill>
                <a:latin typeface="Calibri"/>
              </a:rPr>
              <a:t>Read the sentence. Draw a line to the right word. Then circle the word.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2860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3D5A80"/>
                </a:solidFill>
                <a:latin typeface="Calibri"/>
              </a:rPr>
              <a:t>1.  I drink water from my ______.</a:t>
            </a:r>
          </a:p>
        </p:txBody>
      </p:sp>
      <p:sp>
        <p:nvSpPr>
          <p:cNvPr id="8" name="Oval 7"/>
          <p:cNvSpPr/>
          <p:nvPr/>
        </p:nvSpPr>
        <p:spPr>
          <a:xfrm>
            <a:off x="5897880" y="2414016"/>
            <a:ext cx="182880" cy="18288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543800" y="2414016"/>
            <a:ext cx="182880" cy="18288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in-sofa_1.000_0.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2231136"/>
            <a:ext cx="566928" cy="56692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909560" y="2286000"/>
            <a:ext cx="2084832" cy="457200"/>
          </a:xfrm>
          <a:prstGeom prst="roundRect">
            <a:avLst>
              <a:gd name="adj" fmla="val 45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2340864"/>
            <a:ext cx="20848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D5A80"/>
                </a:solidFill>
                <a:latin typeface="Calibri"/>
              </a:rPr>
              <a:t>sofa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94436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3D5A80"/>
                </a:solidFill>
                <a:latin typeface="Calibri"/>
              </a:rPr>
              <a:t>2.  We sit on the ______.</a:t>
            </a:r>
          </a:p>
        </p:txBody>
      </p:sp>
      <p:sp>
        <p:nvSpPr>
          <p:cNvPr id="14" name="Oval 13"/>
          <p:cNvSpPr/>
          <p:nvPr/>
        </p:nvSpPr>
        <p:spPr>
          <a:xfrm>
            <a:off x="5897880" y="3072384"/>
            <a:ext cx="182880" cy="18288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43800" y="3072384"/>
            <a:ext cx="182880" cy="18288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main-lantern_1.000_0.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5832" y="2889504"/>
            <a:ext cx="566928" cy="566928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7909560" y="2944368"/>
            <a:ext cx="2084832" cy="457200"/>
          </a:xfrm>
          <a:prstGeom prst="roundRect">
            <a:avLst>
              <a:gd name="adj" fmla="val 45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2999232"/>
            <a:ext cx="20848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D5A80"/>
                </a:solidFill>
                <a:latin typeface="Calibri"/>
              </a:rPr>
              <a:t>lantern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60273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3D5A80"/>
                </a:solidFill>
                <a:latin typeface="Calibri"/>
              </a:rPr>
              <a:t>3.  I put rubbish in the ______.</a:t>
            </a:r>
          </a:p>
        </p:txBody>
      </p:sp>
      <p:sp>
        <p:nvSpPr>
          <p:cNvPr id="20" name="Oval 19"/>
          <p:cNvSpPr/>
          <p:nvPr/>
        </p:nvSpPr>
        <p:spPr>
          <a:xfrm>
            <a:off x="5897880" y="3730752"/>
            <a:ext cx="182880" cy="18288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43800" y="3730752"/>
            <a:ext cx="182880" cy="18288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main-heater_1.000_0.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3547872"/>
            <a:ext cx="566928" cy="566928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909560" y="3602736"/>
            <a:ext cx="2084832" cy="457200"/>
          </a:xfrm>
          <a:prstGeom prst="roundRect">
            <a:avLst>
              <a:gd name="adj" fmla="val 45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09560" y="3657600"/>
            <a:ext cx="20848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D5A80"/>
                </a:solidFill>
                <a:latin typeface="Calibri"/>
              </a:rPr>
              <a:t>heater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26110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3D5A80"/>
                </a:solidFill>
                <a:latin typeface="Calibri"/>
              </a:rPr>
              <a:t>4.  I do my homework at my ______.</a:t>
            </a:r>
          </a:p>
        </p:txBody>
      </p:sp>
      <p:sp>
        <p:nvSpPr>
          <p:cNvPr id="26" name="Oval 25"/>
          <p:cNvSpPr/>
          <p:nvPr/>
        </p:nvSpPr>
        <p:spPr>
          <a:xfrm>
            <a:off x="5897880" y="4389120"/>
            <a:ext cx="182880" cy="18288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543800" y="4389120"/>
            <a:ext cx="182880" cy="18288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main-bottle_1.000_0.0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5832" y="4206240"/>
            <a:ext cx="566928" cy="566928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7909560" y="4261104"/>
            <a:ext cx="2084832" cy="457200"/>
          </a:xfrm>
          <a:prstGeom prst="roundRect">
            <a:avLst>
              <a:gd name="adj" fmla="val 45000"/>
            </a:avLst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09560" y="4315968"/>
            <a:ext cx="20848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D5A80"/>
                </a:solidFill>
                <a:latin typeface="Calibri"/>
              </a:rPr>
              <a:t>bottle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491947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3D5A80"/>
                </a:solidFill>
                <a:latin typeface="Calibri"/>
              </a:rPr>
              <a:t>5.  My ______ shows me the way.</a:t>
            </a:r>
          </a:p>
        </p:txBody>
      </p:sp>
      <p:sp>
        <p:nvSpPr>
          <p:cNvPr id="32" name="Oval 31"/>
          <p:cNvSpPr/>
          <p:nvPr/>
        </p:nvSpPr>
        <p:spPr>
          <a:xfrm>
            <a:off x="5897880" y="5047488"/>
            <a:ext cx="182880" cy="18288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543800" y="5047488"/>
            <a:ext cx="182880" cy="18288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con-des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85832" y="4864608"/>
            <a:ext cx="566928" cy="566928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7909560" y="4919472"/>
            <a:ext cx="2084832" cy="457200"/>
          </a:xfrm>
          <a:prstGeom prst="roundRect">
            <a:avLst>
              <a:gd name="adj" fmla="val 45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09560" y="4974336"/>
            <a:ext cx="20848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D5A80"/>
                </a:solidFill>
                <a:latin typeface="Calibri"/>
              </a:rPr>
              <a:t>desk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45920" y="5577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3D5A80"/>
                </a:solidFill>
                <a:latin typeface="Calibri"/>
              </a:rPr>
              <a:t>6.  The ______ keeps me warm.</a:t>
            </a:r>
          </a:p>
        </p:txBody>
      </p:sp>
      <p:sp>
        <p:nvSpPr>
          <p:cNvPr id="38" name="Oval 37"/>
          <p:cNvSpPr/>
          <p:nvPr/>
        </p:nvSpPr>
        <p:spPr>
          <a:xfrm>
            <a:off x="5897880" y="5705856"/>
            <a:ext cx="182880" cy="18288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543800" y="5705856"/>
            <a:ext cx="182880" cy="18288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main-bin_1.000_0.0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5832" y="5522976"/>
            <a:ext cx="566928" cy="566928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7909560" y="5577840"/>
            <a:ext cx="2084832" cy="457200"/>
          </a:xfrm>
          <a:prstGeom prst="roundRect">
            <a:avLst>
              <a:gd name="adj" fmla="val 45000"/>
            </a:avLst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09560" y="5632704"/>
            <a:ext cx="20848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D5A80"/>
                </a:solidFill>
                <a:latin typeface="Calibri"/>
              </a:rPr>
              <a:t>bin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A8A"/>
                </a:solidFill>
                <a:latin typeface="Calibri"/>
              </a:rPr>
              <a:t>Everyday Objects 3 · Worksheet 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s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926080" y="502920"/>
            <a:ext cx="6339535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0" y="594360"/>
            <a:ext cx="6339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D5A80"/>
                </a:solidFill>
                <a:latin typeface="Calibri"/>
              </a:rPr>
              <a:t>Worksheet 2 · Find and Circle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0896" y="1517904"/>
            <a:ext cx="7831328" cy="4453128"/>
          </a:xfrm>
          <a:prstGeom prst="roundRect">
            <a:avLst>
              <a:gd name="adj" fmla="val 6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d5e984d8fff94a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72768"/>
            <a:ext cx="7721600" cy="4343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15960" y="1517904"/>
            <a:ext cx="3555695" cy="4453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3120" y="1645920"/>
            <a:ext cx="32813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A9D8F"/>
                </a:solidFill>
                <a:latin typeface="Calibri"/>
              </a:rPr>
              <a:t>Find it! Point to it. Circle it.</a:t>
            </a:r>
          </a:p>
        </p:txBody>
      </p:sp>
      <p:sp>
        <p:nvSpPr>
          <p:cNvPr id="9" name="Oval 8"/>
          <p:cNvSpPr/>
          <p:nvPr/>
        </p:nvSpPr>
        <p:spPr>
          <a:xfrm>
            <a:off x="8471408" y="2103120"/>
            <a:ext cx="164592" cy="164592"/>
          </a:xfrm>
          <a:prstGeom prst="ellipse">
            <a:avLst/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00008" y="2029968"/>
            <a:ext cx="309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Point to something you drink from.</a:t>
            </a:r>
          </a:p>
        </p:txBody>
      </p:sp>
      <p:sp>
        <p:nvSpPr>
          <p:cNvPr id="11" name="Oval 10"/>
          <p:cNvSpPr/>
          <p:nvPr/>
        </p:nvSpPr>
        <p:spPr>
          <a:xfrm>
            <a:off x="8471408" y="2478024"/>
            <a:ext cx="164592" cy="164592"/>
          </a:xfrm>
          <a:prstGeom prst="ellipse">
            <a:avLst/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00008" y="2404872"/>
            <a:ext cx="309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Point to something that keeps you warm.</a:t>
            </a:r>
          </a:p>
        </p:txBody>
      </p:sp>
      <p:sp>
        <p:nvSpPr>
          <p:cNvPr id="13" name="Oval 12"/>
          <p:cNvSpPr/>
          <p:nvPr/>
        </p:nvSpPr>
        <p:spPr>
          <a:xfrm>
            <a:off x="8471408" y="2852928"/>
            <a:ext cx="164592" cy="164592"/>
          </a:xfrm>
          <a:prstGeom prst="ellipse">
            <a:avLst/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00008" y="2779776"/>
            <a:ext cx="309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Point to something you listen with.</a:t>
            </a:r>
          </a:p>
        </p:txBody>
      </p:sp>
      <p:sp>
        <p:nvSpPr>
          <p:cNvPr id="15" name="Oval 14"/>
          <p:cNvSpPr/>
          <p:nvPr/>
        </p:nvSpPr>
        <p:spPr>
          <a:xfrm>
            <a:off x="8471408" y="3227832"/>
            <a:ext cx="164592" cy="164592"/>
          </a:xfrm>
          <a:prstGeom prst="ellipse">
            <a:avLst/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00008" y="3154680"/>
            <a:ext cx="309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Point to something you sit on.</a:t>
            </a:r>
          </a:p>
        </p:txBody>
      </p:sp>
      <p:sp>
        <p:nvSpPr>
          <p:cNvPr id="17" name="Oval 16"/>
          <p:cNvSpPr/>
          <p:nvPr/>
        </p:nvSpPr>
        <p:spPr>
          <a:xfrm>
            <a:off x="8471408" y="3602736"/>
            <a:ext cx="164592" cy="164592"/>
          </a:xfrm>
          <a:prstGeom prst="ellipse">
            <a:avLst/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00008" y="3529584"/>
            <a:ext cx="309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Point to something that keeps you cool.</a:t>
            </a:r>
          </a:p>
        </p:txBody>
      </p:sp>
      <p:sp>
        <p:nvSpPr>
          <p:cNvPr id="19" name="Oval 18"/>
          <p:cNvSpPr/>
          <p:nvPr/>
        </p:nvSpPr>
        <p:spPr>
          <a:xfrm>
            <a:off x="8471408" y="3977640"/>
            <a:ext cx="164592" cy="164592"/>
          </a:xfrm>
          <a:prstGeom prst="ellipse">
            <a:avLst/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00008" y="3904488"/>
            <a:ext cx="309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Point to something you type on.</a:t>
            </a:r>
          </a:p>
        </p:txBody>
      </p:sp>
      <p:sp>
        <p:nvSpPr>
          <p:cNvPr id="21" name="Oval 20"/>
          <p:cNvSpPr/>
          <p:nvPr/>
        </p:nvSpPr>
        <p:spPr>
          <a:xfrm>
            <a:off x="8471408" y="4352544"/>
            <a:ext cx="164592" cy="164592"/>
          </a:xfrm>
          <a:prstGeom prst="ellipse">
            <a:avLst/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00008" y="4279392"/>
            <a:ext cx="309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Point to something you put rubbish in.</a:t>
            </a:r>
          </a:p>
        </p:txBody>
      </p:sp>
      <p:sp>
        <p:nvSpPr>
          <p:cNvPr id="23" name="Oval 22"/>
          <p:cNvSpPr/>
          <p:nvPr/>
        </p:nvSpPr>
        <p:spPr>
          <a:xfrm>
            <a:off x="8471408" y="4727448"/>
            <a:ext cx="164592" cy="164592"/>
          </a:xfrm>
          <a:prstGeom prst="ellipse">
            <a:avLst/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00008" y="4654296"/>
            <a:ext cx="309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Point to something you paint with.</a:t>
            </a:r>
          </a:p>
        </p:txBody>
      </p:sp>
      <p:sp>
        <p:nvSpPr>
          <p:cNvPr id="25" name="Oval 24"/>
          <p:cNvSpPr/>
          <p:nvPr/>
        </p:nvSpPr>
        <p:spPr>
          <a:xfrm>
            <a:off x="8471408" y="5102352"/>
            <a:ext cx="164592" cy="164592"/>
          </a:xfrm>
          <a:prstGeom prst="ellipse">
            <a:avLst/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00008" y="5029200"/>
            <a:ext cx="309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Point to something that boils water.</a:t>
            </a:r>
          </a:p>
        </p:txBody>
      </p:sp>
      <p:sp>
        <p:nvSpPr>
          <p:cNvPr id="27" name="Oval 26"/>
          <p:cNvSpPr/>
          <p:nvPr/>
        </p:nvSpPr>
        <p:spPr>
          <a:xfrm>
            <a:off x="8471408" y="5477256"/>
            <a:ext cx="164592" cy="164592"/>
          </a:xfrm>
          <a:prstGeom prst="ellipse">
            <a:avLst/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00008" y="5404104"/>
            <a:ext cx="309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Point to something with six strings.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A8A"/>
                </a:solidFill>
                <a:latin typeface="Calibri"/>
              </a:rPr>
              <a:t>Everyday Objects 3 · Worksheet 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2871" y="850392"/>
            <a:ext cx="11045952" cy="4245102"/>
          </a:xfrm>
          <a:prstGeom prst="roundRect">
            <a:avLst>
              <a:gd name="adj" fmla="val 8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b70006e3abf3f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7" y="932688"/>
            <a:ext cx="5440680" cy="4080510"/>
          </a:xfrm>
          <a:prstGeom prst="rect">
            <a:avLst/>
          </a:prstGeom>
        </p:spPr>
      </p:pic>
      <p:pic>
        <p:nvPicPr>
          <p:cNvPr id="5" name="Picture 4" descr="758c156a0926d8d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7" y="932688"/>
            <a:ext cx="5440680" cy="408051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82131" y="932688"/>
            <a:ext cx="27432" cy="40805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3807" y="182880"/>
            <a:ext cx="4343400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3807" y="237744"/>
            <a:ext cx="4343400" cy="5120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D5A80"/>
                </a:solidFill>
                <a:latin typeface="Calibri"/>
              </a:rPr>
              <a:t>I turn on the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44487" y="182880"/>
            <a:ext cx="4343400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44487" y="237744"/>
            <a:ext cx="4343400" cy="5120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D5A80"/>
                </a:solidFill>
                <a:latin typeface="Calibri"/>
              </a:rPr>
              <a:t>I turn off the</a:t>
            </a:r>
          </a:p>
        </p:txBody>
      </p:sp>
      <p:sp>
        <p:nvSpPr>
          <p:cNvPr id="11" name="Chevron 10"/>
          <p:cNvSpPr/>
          <p:nvPr/>
        </p:nvSpPr>
        <p:spPr>
          <a:xfrm rot="10800000">
            <a:off x="4459071" y="4711446"/>
            <a:ext cx="384048" cy="475488"/>
          </a:xfrm>
          <a:prstGeom prst="chevron">
            <a:avLst/>
          </a:prstGeom>
          <a:solidFill>
            <a:srgbClr val="E07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7348575" y="4711446"/>
            <a:ext cx="384048" cy="475488"/>
          </a:xfrm>
          <a:prstGeom prst="chevron">
            <a:avLst/>
          </a:prstGeom>
          <a:solidFill>
            <a:srgbClr val="E07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33391" y="4510278"/>
            <a:ext cx="2724912" cy="868680"/>
          </a:xfrm>
          <a:prstGeom prst="roundRect">
            <a:avLst>
              <a:gd name="adj" fmla="val 50000"/>
            </a:avLst>
          </a:prstGeom>
          <a:solidFill>
            <a:srgbClr val="FF8A7A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07711" y="4620006"/>
            <a:ext cx="822960" cy="6492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ain-fan_1.200_0.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1690" y="4638294"/>
            <a:ext cx="735001" cy="6126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30671" y="4620006"/>
            <a:ext cx="1490472" cy="6492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fan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3  ·  Action Pairs 1 / 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2871" y="850392"/>
            <a:ext cx="11045952" cy="4245102"/>
          </a:xfrm>
          <a:prstGeom prst="roundRect">
            <a:avLst>
              <a:gd name="adj" fmla="val 8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b1d8546a949c45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7" y="932688"/>
            <a:ext cx="5440680" cy="4080510"/>
          </a:xfrm>
          <a:prstGeom prst="rect">
            <a:avLst/>
          </a:prstGeom>
        </p:spPr>
      </p:pic>
      <p:pic>
        <p:nvPicPr>
          <p:cNvPr id="5" name="Picture 4" descr="49dc54ac03282a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7" y="932688"/>
            <a:ext cx="5440680" cy="408051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82131" y="932688"/>
            <a:ext cx="27432" cy="40805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3807" y="182880"/>
            <a:ext cx="4343400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3807" y="237744"/>
            <a:ext cx="4343400" cy="5120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D5A80"/>
                </a:solidFill>
                <a:latin typeface="Calibri"/>
              </a:rPr>
              <a:t>I fill my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44487" y="182880"/>
            <a:ext cx="4343400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44487" y="237744"/>
            <a:ext cx="4343400" cy="5120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D5A80"/>
                </a:solidFill>
                <a:latin typeface="Calibri"/>
              </a:rPr>
              <a:t>I empty my</a:t>
            </a:r>
          </a:p>
        </p:txBody>
      </p:sp>
      <p:sp>
        <p:nvSpPr>
          <p:cNvPr id="11" name="Chevron 10"/>
          <p:cNvSpPr/>
          <p:nvPr/>
        </p:nvSpPr>
        <p:spPr>
          <a:xfrm rot="10800000">
            <a:off x="4102455" y="4711446"/>
            <a:ext cx="384048" cy="475488"/>
          </a:xfrm>
          <a:prstGeom prst="chevron">
            <a:avLst/>
          </a:prstGeom>
          <a:solidFill>
            <a:srgbClr val="E07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7705191" y="4711446"/>
            <a:ext cx="384048" cy="475488"/>
          </a:xfrm>
          <a:prstGeom prst="chevron">
            <a:avLst/>
          </a:prstGeom>
          <a:solidFill>
            <a:srgbClr val="E07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76775" y="4510278"/>
            <a:ext cx="3438144" cy="868680"/>
          </a:xfrm>
          <a:prstGeom prst="roundRect">
            <a:avLst>
              <a:gd name="adj" fmla="val 50000"/>
            </a:avLst>
          </a:prstGeom>
          <a:solidFill>
            <a:srgbClr val="FF8A7A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51095" y="4620006"/>
            <a:ext cx="822960" cy="6492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ain-bottle_1.200_0.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5337" y="4638294"/>
            <a:ext cx="734476" cy="6126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74055" y="4620006"/>
            <a:ext cx="2203704" cy="6492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bottle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3  ·  Action Pairs 2 / 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2871" y="850392"/>
            <a:ext cx="11045952" cy="4245102"/>
          </a:xfrm>
          <a:prstGeom prst="roundRect">
            <a:avLst>
              <a:gd name="adj" fmla="val 8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068f79d291416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7" y="932688"/>
            <a:ext cx="5440680" cy="4080510"/>
          </a:xfrm>
          <a:prstGeom prst="rect">
            <a:avLst/>
          </a:prstGeom>
        </p:spPr>
      </p:pic>
      <p:pic>
        <p:nvPicPr>
          <p:cNvPr id="5" name="Picture 4" descr="e63c5e6645528b5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7" y="932688"/>
            <a:ext cx="5440680" cy="408051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82131" y="932688"/>
            <a:ext cx="27432" cy="40805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3807" y="182880"/>
            <a:ext cx="4343400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3807" y="237744"/>
            <a:ext cx="4343400" cy="5120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D5A80"/>
                </a:solidFill>
                <a:latin typeface="Calibri"/>
              </a:rPr>
              <a:t>I put clothes in the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44487" y="182880"/>
            <a:ext cx="4343400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44487" y="237744"/>
            <a:ext cx="4343400" cy="5120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D5A80"/>
                </a:solidFill>
                <a:latin typeface="Calibri"/>
              </a:rPr>
              <a:t>I take clothes out of the</a:t>
            </a:r>
          </a:p>
        </p:txBody>
      </p:sp>
      <p:sp>
        <p:nvSpPr>
          <p:cNvPr id="11" name="Chevron 10"/>
          <p:cNvSpPr/>
          <p:nvPr/>
        </p:nvSpPr>
        <p:spPr>
          <a:xfrm rot="10800000">
            <a:off x="3375507" y="4711446"/>
            <a:ext cx="384048" cy="475488"/>
          </a:xfrm>
          <a:prstGeom prst="chevron">
            <a:avLst/>
          </a:prstGeom>
          <a:solidFill>
            <a:srgbClr val="E07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8432139" y="4711446"/>
            <a:ext cx="384048" cy="475488"/>
          </a:xfrm>
          <a:prstGeom prst="chevron">
            <a:avLst/>
          </a:prstGeom>
          <a:solidFill>
            <a:srgbClr val="E07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49827" y="4510278"/>
            <a:ext cx="4892040" cy="868680"/>
          </a:xfrm>
          <a:prstGeom prst="roundRect">
            <a:avLst>
              <a:gd name="adj" fmla="val 50000"/>
            </a:avLst>
          </a:prstGeom>
          <a:solidFill>
            <a:srgbClr val="FF8A7A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924147" y="4620006"/>
            <a:ext cx="822960" cy="6492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ain-washing-machine_1.200_0.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8318" y="4638294"/>
            <a:ext cx="734618" cy="6126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747107" y="4620006"/>
            <a:ext cx="3657600" cy="6492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washing machine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3  ·  Action Pairs 3 / 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2871" y="850392"/>
            <a:ext cx="11045952" cy="4245102"/>
          </a:xfrm>
          <a:prstGeom prst="roundRect">
            <a:avLst>
              <a:gd name="adj" fmla="val 8000"/>
            </a:avLst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c5aa230fb9d387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7" y="932688"/>
            <a:ext cx="5440680" cy="4080510"/>
          </a:xfrm>
          <a:prstGeom prst="rect">
            <a:avLst/>
          </a:prstGeom>
        </p:spPr>
      </p:pic>
      <p:pic>
        <p:nvPicPr>
          <p:cNvPr id="5" name="Picture 4" descr="4aff382c0ca653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7" y="932688"/>
            <a:ext cx="5440680" cy="408051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82131" y="932688"/>
            <a:ext cx="27432" cy="40805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3807" y="182880"/>
            <a:ext cx="4343400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3807" y="237744"/>
            <a:ext cx="4343400" cy="5120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D5A80"/>
                </a:solidFill>
                <a:latin typeface="Calibri"/>
              </a:rPr>
              <a:t>I open my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44487" y="182880"/>
            <a:ext cx="4343400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44487" y="237744"/>
            <a:ext cx="4343400" cy="5120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D5A80"/>
                </a:solidFill>
                <a:latin typeface="Calibri"/>
              </a:rPr>
              <a:t>I close my</a:t>
            </a:r>
          </a:p>
        </p:txBody>
      </p:sp>
      <p:sp>
        <p:nvSpPr>
          <p:cNvPr id="11" name="Chevron 10"/>
          <p:cNvSpPr/>
          <p:nvPr/>
        </p:nvSpPr>
        <p:spPr>
          <a:xfrm rot="10800000">
            <a:off x="4102455" y="4711446"/>
            <a:ext cx="384048" cy="475488"/>
          </a:xfrm>
          <a:prstGeom prst="chevron">
            <a:avLst/>
          </a:prstGeom>
          <a:solidFill>
            <a:srgbClr val="E07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7705191" y="4711446"/>
            <a:ext cx="384048" cy="475488"/>
          </a:xfrm>
          <a:prstGeom prst="chevron">
            <a:avLst/>
          </a:prstGeom>
          <a:solidFill>
            <a:srgbClr val="E07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76775" y="4510278"/>
            <a:ext cx="3438144" cy="868680"/>
          </a:xfrm>
          <a:prstGeom prst="roundRect">
            <a:avLst>
              <a:gd name="adj" fmla="val 50000"/>
            </a:avLst>
          </a:prstGeom>
          <a:solidFill>
            <a:srgbClr val="FF8A7A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51095" y="4620006"/>
            <a:ext cx="822960" cy="6492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ain-laptop_1.200_0.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5071" y="4638294"/>
            <a:ext cx="735007" cy="6126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74055" y="4620006"/>
            <a:ext cx="2203704" cy="6492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laptop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3  ·  Action Pairs 4 / 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2871" y="850392"/>
            <a:ext cx="11045952" cy="4245102"/>
          </a:xfrm>
          <a:prstGeom prst="roundRect">
            <a:avLst>
              <a:gd name="adj" fmla="val 8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77afd54391f6b4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7" y="932688"/>
            <a:ext cx="5440680" cy="4080510"/>
          </a:xfrm>
          <a:prstGeom prst="rect">
            <a:avLst/>
          </a:prstGeom>
        </p:spPr>
      </p:pic>
      <p:pic>
        <p:nvPicPr>
          <p:cNvPr id="5" name="Picture 4" descr="049f25940d4656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7" y="932688"/>
            <a:ext cx="5440680" cy="408051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82131" y="932688"/>
            <a:ext cx="27432" cy="40805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3807" y="182880"/>
            <a:ext cx="4343400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3807" y="237744"/>
            <a:ext cx="4343400" cy="5120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D5A80"/>
                </a:solidFill>
                <a:latin typeface="Calibri"/>
              </a:rPr>
              <a:t>I sit down on the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44487" y="182880"/>
            <a:ext cx="4343400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44487" y="237744"/>
            <a:ext cx="4343400" cy="5120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D5A80"/>
                </a:solidFill>
                <a:latin typeface="Calibri"/>
              </a:rPr>
              <a:t>I stand up from the</a:t>
            </a:r>
          </a:p>
        </p:txBody>
      </p:sp>
      <p:sp>
        <p:nvSpPr>
          <p:cNvPr id="11" name="Chevron 10"/>
          <p:cNvSpPr/>
          <p:nvPr/>
        </p:nvSpPr>
        <p:spPr>
          <a:xfrm rot="10800000">
            <a:off x="4340199" y="4711446"/>
            <a:ext cx="384048" cy="475488"/>
          </a:xfrm>
          <a:prstGeom prst="chevron">
            <a:avLst/>
          </a:prstGeom>
          <a:solidFill>
            <a:srgbClr val="E07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7467447" y="4711446"/>
            <a:ext cx="384048" cy="475488"/>
          </a:xfrm>
          <a:prstGeom prst="chevron">
            <a:avLst/>
          </a:prstGeom>
          <a:solidFill>
            <a:srgbClr val="E07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14519" y="4510278"/>
            <a:ext cx="2962656" cy="868680"/>
          </a:xfrm>
          <a:prstGeom prst="roundRect">
            <a:avLst>
              <a:gd name="adj" fmla="val 50000"/>
            </a:avLst>
          </a:prstGeom>
          <a:solidFill>
            <a:srgbClr val="FF8A7A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88839" y="4620006"/>
            <a:ext cx="822960" cy="6492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ain-sofa_1.200_0.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2382" y="4638294"/>
            <a:ext cx="735873" cy="6126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1799" y="4620006"/>
            <a:ext cx="1728216" cy="6492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sofa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3  ·  Action Pairs 5 / 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2871" y="850392"/>
            <a:ext cx="11045952" cy="4245102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410d19ad812d1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7" y="932688"/>
            <a:ext cx="5440680" cy="4080510"/>
          </a:xfrm>
          <a:prstGeom prst="rect">
            <a:avLst/>
          </a:prstGeom>
        </p:spPr>
      </p:pic>
      <p:pic>
        <p:nvPicPr>
          <p:cNvPr id="5" name="Picture 4" descr="31009cff547bd5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7" y="932688"/>
            <a:ext cx="5440680" cy="408051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82131" y="932688"/>
            <a:ext cx="27432" cy="40805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3807" y="182880"/>
            <a:ext cx="4343400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3807" y="237744"/>
            <a:ext cx="4343400" cy="5120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D5A80"/>
                </a:solidFill>
                <a:latin typeface="Calibri"/>
              </a:rPr>
              <a:t>I pull out my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44487" y="182880"/>
            <a:ext cx="4343400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44487" y="237744"/>
            <a:ext cx="4343400" cy="5120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D5A80"/>
                </a:solidFill>
                <a:latin typeface="Calibri"/>
              </a:rPr>
              <a:t>I push in my</a:t>
            </a:r>
          </a:p>
        </p:txBody>
      </p:sp>
      <p:sp>
        <p:nvSpPr>
          <p:cNvPr id="11" name="Chevron 10"/>
          <p:cNvSpPr/>
          <p:nvPr/>
        </p:nvSpPr>
        <p:spPr>
          <a:xfrm rot="10800000">
            <a:off x="4221327" y="4711446"/>
            <a:ext cx="384048" cy="475488"/>
          </a:xfrm>
          <a:prstGeom prst="chevron">
            <a:avLst/>
          </a:prstGeom>
          <a:solidFill>
            <a:srgbClr val="E07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7586319" y="4711446"/>
            <a:ext cx="384048" cy="475488"/>
          </a:xfrm>
          <a:prstGeom prst="chevron">
            <a:avLst/>
          </a:prstGeom>
          <a:solidFill>
            <a:srgbClr val="E07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95647" y="4510278"/>
            <a:ext cx="3200400" cy="868680"/>
          </a:xfrm>
          <a:prstGeom prst="roundRect">
            <a:avLst>
              <a:gd name="adj" fmla="val 50000"/>
            </a:avLst>
          </a:prstGeom>
          <a:solidFill>
            <a:srgbClr val="FF8A7A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69967" y="4620006"/>
            <a:ext cx="822960" cy="6492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-chair_1.200_0.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4211" y="4638294"/>
            <a:ext cx="734471" cy="6126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592927" y="4620006"/>
            <a:ext cx="1965960" cy="6492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chair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3  ·  Action Pairs 6 / 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hanks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828800" y="1645920"/>
            <a:ext cx="8534095" cy="3474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0" y="1965960"/>
            <a:ext cx="256032" cy="256032"/>
          </a:xfrm>
          <a:prstGeom prst="ellipse">
            <a:avLst/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206240" y="1965960"/>
            <a:ext cx="256032" cy="256032"/>
          </a:xfrm>
          <a:prstGeom prst="ellipse">
            <a:avLst/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212080" y="1965960"/>
            <a:ext cx="256032" cy="256032"/>
          </a:xfrm>
          <a:prstGeom prst="ellipse">
            <a:avLst/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217920" y="1965960"/>
            <a:ext cx="256032" cy="256032"/>
          </a:xfrm>
          <a:prstGeom prst="ellipse">
            <a:avLst/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223760" y="1965960"/>
            <a:ext cx="256032" cy="256032"/>
          </a:xfrm>
          <a:prstGeom prst="ellipse">
            <a:avLst/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0" y="1965960"/>
            <a:ext cx="256032" cy="256032"/>
          </a:xfrm>
          <a:prstGeom prst="ellipse">
            <a:avLst/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2468880"/>
            <a:ext cx="79854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D5A80"/>
                </a:solidFill>
                <a:latin typeface="Calibri"/>
              </a:rPr>
              <a:t>Thank you for learning with Everyday Objects 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246120"/>
            <a:ext cx="79854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A9D8F"/>
                </a:solidFill>
                <a:latin typeface="Calibri"/>
              </a:rPr>
              <a:t>For one classroom or one home.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931920"/>
            <a:ext cx="79854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7B6BB0"/>
                </a:solidFill>
                <a:latin typeface="Calibri"/>
              </a:rPr>
              <a:t>Everyday Objects 3 · Sentence Flashcards · Beginner ESL</a:t>
            </a:r>
          </a:p>
        </p:txBody>
      </p:sp>
      <p:pic>
        <p:nvPicPr>
          <p:cNvPr id="13" name="Picture 12" descr="little-wonders-stamp-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5696712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