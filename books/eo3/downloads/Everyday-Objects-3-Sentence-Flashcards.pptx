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6118f79656fa5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4160520"/>
            <a:ext cx="11460175" cy="24231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4297680"/>
            <a:ext cx="3962095" cy="109728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D5A80"/>
                </a:solidFill>
                <a:latin typeface="Calibri"/>
              </a:rPr>
              <a:t>Everyday Objects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A9D8F"/>
                </a:solidFill>
                <a:latin typeface="Calibri"/>
              </a:rPr>
              <a:t>Sentence Flashcards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B6BB0"/>
                </a:solidFill>
                <a:latin typeface="Calibri"/>
              </a:rPr>
              <a:t>Beginner ESL · A1 · Ages 5–9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A8A"/>
                </a:solidFill>
                <a:latin typeface="Calibri"/>
              </a:rPr>
              <a:t>15 cards · For parents, teachers &amp; tutors</a:t>
            </a:r>
          </a:p>
        </p:txBody>
      </p:sp>
      <p:pic>
        <p:nvPicPr>
          <p:cNvPr id="9" name="Picture 8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ide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0" y="228600"/>
            <a:ext cx="5790895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92608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D5A80"/>
                </a:solidFill>
                <a:latin typeface="Calibri"/>
              </a:rPr>
              <a:t>How to use this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85800"/>
            <a:ext cx="5790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9D8F"/>
                </a:solidFill>
                <a:latin typeface="Calibri"/>
              </a:rPr>
              <a:t>Teacher / Parent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1  Show and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Look at the picture. Read the sentence together. The child repeats.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542032"/>
            <a:ext cx="292608" cy="292608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2  Name the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88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Point to the small pictures on the left and say each word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36976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566160"/>
            <a:ext cx="292608" cy="292608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3  Talk and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Use the sentences, questions and mini pictures on the right of each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61104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4590288"/>
            <a:ext cx="292608" cy="292608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25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4  Worksheets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Worksheet 1: Circle &amp; Match. Worksheet 2: Find and Circle (10 objects).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285232"/>
            <a:ext cx="58521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5614416"/>
            <a:ext cx="292608" cy="292608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498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5A80"/>
                </a:solidFill>
                <a:latin typeface="Calibri"/>
              </a:rPr>
              <a:t>5  Action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6 picture pairs (turn on / turn off ...). Act them out and say both sentences.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188720"/>
            <a:ext cx="5212080" cy="5212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118872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252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D5A80"/>
                </a:solidFill>
                <a:latin typeface="Calibri"/>
              </a:rPr>
              <a:t>Word List (15)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1. bottle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2. heater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3. headphones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4. sofa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5. fan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6. laptop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7. bin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8. paintbrush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9. desk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10. bath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11. lantern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12. washing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13. teapot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14. kettle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A80"/>
                </a:solidFill>
                <a:latin typeface="Calibri"/>
              </a:rPr>
              <a:t>15. guitar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drink water from my </a:t>
            </a:r>
            <a:r>
              <a:rPr sz="3700" b="1">
                <a:solidFill>
                  <a:srgbClr val="2A9D8F"/>
                </a:solidFill>
                <a:latin typeface="Calibri"/>
              </a:rPr>
              <a:t>bottle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648" y="4773168"/>
            <a:ext cx="1347985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648" y="4773168"/>
            <a:ext cx="1347985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bot·tle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73b54ce84f85e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bottle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608" y="548640"/>
            <a:ext cx="2433735" cy="384962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684648"/>
            <a:ext cx="2148840" cy="1168049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ac293591ffa97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748656"/>
            <a:ext cx="2020824" cy="10400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401337"/>
            <a:ext cx="2148840" cy="146772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9d719afdc3faa4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465345"/>
            <a:ext cx="2020824" cy="133971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946101"/>
            <a:ext cx="3099291" cy="32257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723619" y="91866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2274300"/>
            <a:ext cx="2520988" cy="860900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45316" y="224686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8700" y="1898417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" y="1898417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" y="3914783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" y="3914783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02920"/>
            <a:ext cx="2651760" cy="38976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bottle is </a:t>
            </a:r>
            <a:r>
              <a:rPr sz="1500" b="1">
                <a:solidFill>
                  <a:srgbClr val="2A9D8F"/>
                </a:solidFill>
                <a:latin typeface="Calibri"/>
              </a:rPr>
              <a:t>full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bottle is </a:t>
            </a:r>
            <a:r>
              <a:rPr sz="1500" b="1">
                <a:solidFill>
                  <a:srgbClr val="2A9D8F"/>
                </a:solidFill>
                <a:latin typeface="Calibri"/>
              </a:rPr>
              <a:t>empty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8" name="Picture 27" descr="c35639faf33362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1581912"/>
            <a:ext cx="2377440" cy="13373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482328" y="295579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2955798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71048" y="295579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955798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empty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333984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have a bottle?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66903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Does your bottle have a label?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99821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Is your bottle full or empty?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heater</a:t>
            </a:r>
            <a:r>
              <a:rPr sz="3200" b="0">
                <a:solidFill>
                  <a:srgbClr val="3D5A80"/>
                </a:solidFill>
                <a:latin typeface="Calibri"/>
              </a:rPr>
              <a:t> keeps me warm.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9404" y="4773168"/>
            <a:ext cx="1459964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9404" y="4773168"/>
            <a:ext cx="1459964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heat·er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871cc9bf4689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heater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665" y="548640"/>
            <a:ext cx="3119621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61436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34d50d052cb2e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78371"/>
            <a:ext cx="2020824" cy="113671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427732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0fd7b7f92e489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491740"/>
            <a:ext cx="2020824" cy="113671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28700" y="192481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" y="192481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wires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" y="3738181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" y="3738181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634" y="4058221"/>
            <a:ext cx="2153412" cy="2743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warm · warmer · warmest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502920"/>
            <a:ext cx="265176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 is </a:t>
            </a:r>
            <a:r>
              <a:rPr sz="1500" b="1">
                <a:solidFill>
                  <a:srgbClr val="2A9D8F"/>
                </a:solidFill>
                <a:latin typeface="Calibri"/>
              </a:rPr>
              <a:t>cold</a:t>
            </a:r>
            <a:r>
              <a:rPr sz="1300" b="0">
                <a:solidFill>
                  <a:srgbClr val="3D5A80"/>
                </a:solidFill>
                <a:latin typeface="Calibri"/>
              </a:rPr>
              <a:t>. The heater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on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 is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. The heater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off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5" name="Picture 24" descr="6609760d0b0bde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600" y="1581912"/>
            <a:ext cx="1723136" cy="96926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83064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3064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44632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44632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Should we use the heater when it's hot?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960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960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Should we use the heater when it's cold?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7960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listen to music with my </a:t>
            </a:r>
            <a:r>
              <a:rPr sz="3700" b="1">
                <a:solidFill>
                  <a:srgbClr val="2A9D8F"/>
                </a:solidFill>
                <a:latin typeface="Calibri"/>
              </a:rPr>
              <a:t>headphones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2759" y="4773168"/>
            <a:ext cx="2588815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92759" y="4773168"/>
            <a:ext cx="2588815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head·phones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f914905105d4c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headphones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529" y="548640"/>
            <a:ext cx="3411894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78492"/>
            <a:ext cx="2148840" cy="1583359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91fe80dfdbb61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2500"/>
            <a:ext cx="2020824" cy="14553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710491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c7530cc2b4c19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774499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1002435"/>
            <a:ext cx="2660227" cy="367736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84555" y="97500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" y="2207571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" y="2207571"/>
            <a:ext cx="1408176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headband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" y="4020940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20940"/>
            <a:ext cx="1527048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earphones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0292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9448" y="813816"/>
            <a:ext cx="1133856" cy="850392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55e1a8679e945a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850392"/>
            <a:ext cx="1060704" cy="777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99448" y="1682496"/>
            <a:ext cx="1133856" cy="38404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0765A"/>
                </a:solidFill>
                <a:latin typeface="Calibri"/>
              </a:rPr>
              <a:t>♪♫♪♫♪♫♪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0616" y="2084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2084832"/>
            <a:ext cx="73152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395728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D5A80"/>
                </a:solidFill>
                <a:latin typeface="Calibri"/>
              </a:rPr>
              <a:t>The music is </a:t>
            </a:r>
            <a:r>
              <a:rPr sz="1250" b="1">
                <a:solidFill>
                  <a:srgbClr val="2A9D8F"/>
                </a:solidFill>
                <a:latin typeface="Calibri"/>
              </a:rPr>
              <a:t>loud</a:t>
            </a:r>
            <a:r>
              <a:rPr sz="105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43032" y="813816"/>
            <a:ext cx="1133856" cy="850392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55e1a8679e945a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9608" y="850392"/>
            <a:ext cx="1060704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43032" y="1682496"/>
            <a:ext cx="1133856" cy="384048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B0A0"/>
                </a:solidFill>
                <a:latin typeface="Calibri"/>
              </a:rPr>
              <a:t>♪  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200" y="2084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2084832"/>
            <a:ext cx="73152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quiet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2" y="2395728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D5A80"/>
                </a:solidFill>
                <a:latin typeface="Calibri"/>
              </a:rPr>
              <a:t>The music is </a:t>
            </a:r>
            <a:r>
              <a:rPr sz="1250" b="1">
                <a:solidFill>
                  <a:srgbClr val="2A9D8F"/>
                </a:solidFill>
                <a:latin typeface="Calibri"/>
              </a:rPr>
              <a:t>quiet</a:t>
            </a:r>
            <a:r>
              <a:rPr sz="105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28986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do we wear our headphones?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355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</a:t>
            </a:r>
            <a:r>
              <a:rPr sz="1500" b="1">
                <a:solidFill>
                  <a:srgbClr val="2A9D8F"/>
                </a:solidFill>
                <a:latin typeface="Calibri"/>
              </a:rPr>
              <a:t>On my head.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37216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do we wear our earphones?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1788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→ </a:t>
            </a:r>
            <a:r>
              <a:rPr sz="1500" b="1">
                <a:solidFill>
                  <a:srgbClr val="2A9D8F"/>
                </a:solidFill>
                <a:latin typeface="Calibri"/>
              </a:rPr>
              <a:t>In my 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We sit on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sofa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8739" y="4773168"/>
            <a:ext cx="996037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88739" y="4773168"/>
            <a:ext cx="996037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so·fa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1ca37030a99f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sofa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213083"/>
            <a:ext cx="5111496" cy="25207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050792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050792"/>
            <a:ext cx="2331720" cy="566928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Where do we sit, on the armrest or the cushion?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3056" y="448850"/>
            <a:ext cx="848568" cy="1344168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6e9b0a6b271f2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064" y="512858"/>
            <a:ext cx="720552" cy="12161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2341658"/>
            <a:ext cx="2148840" cy="1086548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48304d406ca68f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405666"/>
            <a:ext cx="2020824" cy="958532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2001624" y="1120934"/>
            <a:ext cx="1896700" cy="138109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70892" y="247459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651760" y="2701021"/>
            <a:ext cx="2319372" cy="18391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943700" y="2673589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183873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183873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armrest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3473926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473926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cushion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502920"/>
            <a:ext cx="2651760" cy="356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e2896bc301ca35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813816"/>
            <a:ext cx="2377440" cy="13373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482328" y="21877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21877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sofa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71048" y="21877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1877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chair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57175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many people can sit on the chair?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12039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How many people can sit on the sofa?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66903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Where do you sit at home?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fan</a:t>
            </a:r>
            <a:r>
              <a:rPr sz="3200" b="0">
                <a:solidFill>
                  <a:srgbClr val="3D5A80"/>
                </a:solidFill>
                <a:latin typeface="Calibri"/>
              </a:rPr>
              <a:t> keeps me cool.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66196" y="4773168"/>
            <a:ext cx="822960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6196" y="4773168"/>
            <a:ext cx="822960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fan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727ace0b108525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fan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135" y="548640"/>
            <a:ext cx="3962681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6001" y="467201"/>
            <a:ext cx="1702677" cy="1559052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6e114528106c6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09" y="531209"/>
            <a:ext cx="1574661" cy="143103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57489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926d3fd88bcdf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638901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2428678" y="1246727"/>
            <a:ext cx="2184510" cy="10845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85756" y="132775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207257"/>
            <a:ext cx="2540991" cy="35870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5319" y="353852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8699" y="2071973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2071973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" y="388534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" y="388534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634" y="4205382"/>
            <a:ext cx="2153412" cy="2743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cool · cooler · coolest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502920"/>
            <a:ext cx="265176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It is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 today.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fan makes me </a:t>
            </a:r>
            <a:r>
              <a:rPr sz="1500" b="1">
                <a:solidFill>
                  <a:srgbClr val="2A9D8F"/>
                </a:solidFill>
                <a:latin typeface="Calibri"/>
              </a:rPr>
              <a:t>cool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9" name="Picture 28" descr="47bd2165461604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600" y="1581912"/>
            <a:ext cx="1723136" cy="96926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783064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3064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44632" y="2587752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4632" y="2587752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cold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Do we use the fan when it's hot?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79608" y="342900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79608" y="342900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794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B6BB0"/>
                </a:solidFill>
                <a:latin typeface="Calibri"/>
              </a:rPr>
              <a:t>Do we use the fan when it's cold?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804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79608" y="4251960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79608" y="4251960"/>
            <a:ext cx="868680" cy="27432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5A80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type on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laptop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5411" y="4773168"/>
            <a:ext cx="1443672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411" y="4773168"/>
            <a:ext cx="1443672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lap·top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bf208d2142d5b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laptop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037" y="548640"/>
            <a:ext cx="4826877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614363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ec9f1a6dd00b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78371"/>
            <a:ext cx="2020824" cy="113671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674620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63af1b33d628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738628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2651760" y="1246727"/>
            <a:ext cx="1843984" cy="173349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468312" y="295278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" y="1924812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" y="1924812"/>
            <a:ext cx="1408176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keyboard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910" y="2244852"/>
            <a:ext cx="2308860" cy="2743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I </a:t>
            </a:r>
            <a:r>
              <a:rPr sz="1400" b="1">
                <a:solidFill>
                  <a:srgbClr val="2A9D8F"/>
                </a:solidFill>
                <a:latin typeface="Calibri"/>
              </a:rPr>
              <a:t>type</a:t>
            </a:r>
            <a:r>
              <a:rPr sz="1200" b="0">
                <a:solidFill>
                  <a:srgbClr val="3D5A80"/>
                </a:solidFill>
                <a:latin typeface="Calibri"/>
              </a:rPr>
              <a:t> with the keyboard.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" y="3985069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" y="3985069"/>
            <a:ext cx="2121408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Mobile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502920"/>
            <a:ext cx="2651760" cy="3490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click</a:t>
            </a:r>
            <a:r>
              <a:rPr sz="1300" b="0">
                <a:solidFill>
                  <a:srgbClr val="3D5A80"/>
                </a:solidFill>
                <a:latin typeface="Calibri"/>
              </a:rPr>
              <a:t> with the mouse.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</a:t>
            </a:r>
            <a:r>
              <a:rPr sz="1500" b="1">
                <a:solidFill>
                  <a:srgbClr val="2A9D8F"/>
                </a:solidFill>
                <a:latin typeface="Calibri"/>
              </a:rPr>
              <a:t>tap</a:t>
            </a:r>
            <a:r>
              <a:rPr sz="1300" b="0">
                <a:solidFill>
                  <a:srgbClr val="3D5A80"/>
                </a:solidFill>
                <a:latin typeface="Calibri"/>
              </a:rPr>
              <a:t> with the pad.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9448" y="1581912"/>
            <a:ext cx="1143000" cy="85725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6a9c989ff8ffd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1618488"/>
            <a:ext cx="1069848" cy="78409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539478" y="247573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9478" y="2475738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mouse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33888" y="1581912"/>
            <a:ext cx="1143000" cy="85725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12de7df4baf8bb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4" y="1618488"/>
            <a:ext cx="1069848" cy="78409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657332" y="2475738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7332" y="2475738"/>
            <a:ext cx="896112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touchpad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282321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Click, click, click. Is that a mouse or a touchpad?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37185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Tap, tap, tap. Is that a mouse or a touchpad?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901184"/>
            <a:ext cx="107286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873752"/>
            <a:ext cx="103628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3D5A80"/>
                </a:solidFill>
                <a:latin typeface="Calibri"/>
              </a:rPr>
              <a:t>I put rubbish in the </a:t>
            </a:r>
            <a:r>
              <a:rPr sz="3000" b="1">
                <a:solidFill>
                  <a:srgbClr val="2A9D8F"/>
                </a:solidFill>
                <a:latin typeface="Calibri"/>
              </a:rPr>
              <a:t>bin</a:t>
            </a:r>
            <a:r>
              <a:rPr sz="26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55557" y="4645152"/>
            <a:ext cx="822960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55557" y="4645152"/>
            <a:ext cx="822960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47688"/>
            <a:ext cx="112772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A8A"/>
                </a:solidFill>
                <a:latin typeface="Calibri"/>
              </a:rPr>
              <a:t>Everyday Objects 3  ·  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505db266d242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bin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590" y="548640"/>
            <a:ext cx="3609772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378765"/>
            <a:ext cx="2148840" cy="156504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3fb27b7df7d19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773"/>
            <a:ext cx="2020824" cy="14370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1862" y="2492451"/>
            <a:ext cx="1970956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a951effe4216b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70" y="2556459"/>
            <a:ext cx="1842940" cy="155448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1133766"/>
            <a:ext cx="2082016" cy="2752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706344" y="1106334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562818" y="2241994"/>
            <a:ext cx="2790627" cy="1091705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326013" y="221456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1989531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989531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rubbish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4220667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20667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recycle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02920"/>
            <a:ext cx="265176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2df15cba15a14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656" y="813816"/>
            <a:ext cx="2097024" cy="117957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514840" y="20299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14840" y="2029968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paper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56698" y="2029968"/>
            <a:ext cx="6629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56698" y="2029968"/>
            <a:ext cx="6629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plastic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12856" y="20299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2856" y="2029968"/>
            <a:ext cx="54864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food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414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Where does the bottle go?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9448" y="2761488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9b1418cb3769ed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2798064"/>
            <a:ext cx="1069848" cy="49834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384030" y="3369564"/>
            <a:ext cx="97383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84030" y="3369564"/>
            <a:ext cx="973836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newspaper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33888" y="2761488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bb2c9f95b5b8d88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0464" y="2798064"/>
            <a:ext cx="1069848" cy="4983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831068" y="336956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31068" y="3369564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99448" y="3662172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10728bcfc49b830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6024" y="3698748"/>
            <a:ext cx="1069848" cy="4983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500616" y="4270248"/>
            <a:ext cx="7406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0616" y="4270248"/>
            <a:ext cx="740664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bottle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33888" y="3662172"/>
            <a:ext cx="1143000" cy="57150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64dfde2a0fafbf0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0464" y="3698748"/>
            <a:ext cx="1069848" cy="49834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0540746" y="4270248"/>
            <a:ext cx="11292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40746" y="4270248"/>
            <a:ext cx="1129284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banana peel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522976"/>
            <a:ext cx="10728655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577900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♻ Recycling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60716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A8A"/>
                </a:solidFill>
                <a:latin typeface="Calibri"/>
              </a:rPr>
              <a:t>bottle to bottle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45258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2dcedfc27ccf6ff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1834" y="5614416"/>
            <a:ext cx="975360" cy="71323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011680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full bottle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9061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53535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98a2e8bb00fef3b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0111" y="5614416"/>
            <a:ext cx="975360" cy="7132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619957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empty bottle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7338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1812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87ea4376586ac56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8388" y="5614416"/>
            <a:ext cx="975360" cy="7132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228234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recycling bin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5615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70089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d586957261f0f2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6665" y="5614416"/>
            <a:ext cx="975360" cy="7132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36511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collected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3892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78366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7a9e9d316c97996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14942" y="5614416"/>
            <a:ext cx="975360" cy="7132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444788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eco factory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42169" y="57972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C3C"/>
                </a:solidFill>
                <a:latin typeface="Calibri"/>
              </a:rP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86643" y="5577840"/>
            <a:ext cx="1048512" cy="786384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920ee2ae72e34d3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23219" y="5614416"/>
            <a:ext cx="975360" cy="71323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0053065" y="6355080"/>
            <a:ext cx="1315669" cy="23774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D5A80"/>
                </a:solidFill>
                <a:latin typeface="Calibri"/>
              </a:rPr>
              <a:t>new bottles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paint with a </a:t>
            </a:r>
            <a:r>
              <a:rPr sz="3700" b="1">
                <a:solidFill>
                  <a:srgbClr val="2A9D8F"/>
                </a:solidFill>
                <a:latin typeface="Calibri"/>
              </a:rPr>
              <a:t>paintbrush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15172" y="4773168"/>
            <a:ext cx="2304077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15172" y="4773168"/>
            <a:ext cx="2304077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paint·brush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863e43132b61ee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paintbrush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653969"/>
            <a:ext cx="5111496" cy="16389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340" y="320040"/>
            <a:ext cx="1536000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31fd4a7dbcdb1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48" y="384048"/>
            <a:ext cx="1407984" cy="1554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52936" y="2551176"/>
            <a:ext cx="2048808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6b2aaba2a14c5f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44" y="2615184"/>
            <a:ext cx="1920792" cy="1554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92124" y="20482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" y="2048256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canvas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79392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palette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502920"/>
            <a:ext cx="2651760" cy="268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813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Three kinds of paint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9448" y="1161288"/>
            <a:ext cx="731520" cy="10160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be8f019b30dc22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1197864"/>
            <a:ext cx="658368" cy="9428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390888" y="221386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2213864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oil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1161288"/>
            <a:ext cx="731520" cy="10160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6c8304ab2f21f5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8984" y="1197864"/>
            <a:ext cx="658368" cy="94284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0122408" y="221386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2213864"/>
            <a:ext cx="73152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acrylic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45368" y="1161288"/>
            <a:ext cx="731520" cy="101600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bab7054231c48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1944" y="1197864"/>
            <a:ext cx="658368" cy="9428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945368" y="2213864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45368" y="2213864"/>
            <a:ext cx="73152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watercolor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25613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Which kind of paint do you like the most?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do my homework at my </a:t>
            </a:r>
            <a:r>
              <a:rPr sz="3700" b="1">
                <a:solidFill>
                  <a:srgbClr val="2A9D8F"/>
                </a:solidFill>
                <a:latin typeface="Calibri"/>
              </a:rPr>
              <a:t>desk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97652" y="4773168"/>
            <a:ext cx="1084599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97652" y="4773168"/>
            <a:ext cx="1084599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9887774a562c1f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desk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035844"/>
            <a:ext cx="5111496" cy="28752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710568"/>
            <a:ext cx="2148840" cy="745991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b0a75473feec9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774576"/>
            <a:ext cx="2020824" cy="61797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7824" y="2005199"/>
            <a:ext cx="1939032" cy="1527048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6f96c2accafcc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2" y="2069207"/>
            <a:ext cx="1811016" cy="1399032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2651760" y="1083563"/>
            <a:ext cx="2345521" cy="1068256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69849" y="2124387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2124" y="1502279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" y="1502279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drawer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" y="3577967"/>
            <a:ext cx="237744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" y="3596255"/>
            <a:ext cx="2377440" cy="621792"/>
          </a:xfrm>
          <a:prstGeom prst="rect">
            <a:avLst/>
          </a:prstGeom>
          <a:noFill/>
        </p:spPr>
        <p:txBody>
          <a:bodyPr wrap="square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3D5A80"/>
                </a:solidFill>
                <a:latin typeface="Calibri"/>
              </a:rPr>
              <a:t>classroom</a:t>
            </a:r>
          </a:p>
          <a:p>
            <a:pPr algn="ctr"/>
            <a:r>
              <a:rPr sz="1150" b="1">
                <a:solidFill>
                  <a:srgbClr val="7B6BB0"/>
                </a:solidFill>
                <a:latin typeface="Calibri"/>
              </a:rPr>
              <a:t>How many desks are in the classroom?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02920"/>
            <a:ext cx="2651760" cy="32941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book is </a:t>
            </a:r>
            <a:r>
              <a:rPr sz="1500" b="1">
                <a:solidFill>
                  <a:srgbClr val="2A9D8F"/>
                </a:solidFill>
                <a:latin typeface="Calibri"/>
              </a:rPr>
              <a:t>on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desk.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1978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bag is </a:t>
            </a:r>
            <a:r>
              <a:rPr sz="1500" b="1">
                <a:solidFill>
                  <a:srgbClr val="2A9D8F"/>
                </a:solidFill>
                <a:latin typeface="Calibri"/>
              </a:rPr>
              <a:t>under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desk.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5819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pencil is </a:t>
            </a:r>
            <a:r>
              <a:rPr sz="1500" b="1">
                <a:solidFill>
                  <a:srgbClr val="2A9D8F"/>
                </a:solidFill>
                <a:latin typeface="Calibri"/>
              </a:rPr>
              <a:t>in</a:t>
            </a:r>
            <a:r>
              <a:rPr sz="1300" b="0">
                <a:solidFill>
                  <a:srgbClr val="3D5A80"/>
                </a:solidFill>
                <a:latin typeface="Calibri"/>
              </a:rPr>
              <a:t> the drawer.</a:t>
            </a:r>
          </a:p>
        </p:txBody>
      </p:sp>
      <p:pic>
        <p:nvPicPr>
          <p:cNvPr id="27" name="Picture 26" descr="efe4cc31ca599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1965960"/>
            <a:ext cx="2377440" cy="13373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08592" y="339471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What is on your desk?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take a </a:t>
            </a:r>
            <a:r>
              <a:rPr sz="3700" b="1">
                <a:solidFill>
                  <a:srgbClr val="2A9D8F"/>
                </a:solidFill>
                <a:latin typeface="Calibri"/>
              </a:rPr>
              <a:t>bath</a:t>
            </a:r>
            <a:r>
              <a:rPr sz="3200" b="0">
                <a:solidFill>
                  <a:srgbClr val="3D5A80"/>
                </a:solidFill>
                <a:latin typeface="Calibri"/>
              </a:rPr>
              <a:t> every night.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3222" y="4773168"/>
            <a:ext cx="1077694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3222" y="4773168"/>
            <a:ext cx="1077694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bath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e4527ddb127a2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bath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691322"/>
            <a:ext cx="5111496" cy="3564259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903220" y="-86868"/>
            <a:ext cx="1051560" cy="1051560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ba92ca0d973a0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940" y="-41148"/>
            <a:ext cx="960120" cy="960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994660" y="99212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4660" y="992124"/>
            <a:ext cx="8686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D5A80"/>
                </a:solidFill>
                <a:latin typeface="Calibri"/>
              </a:rPr>
              <a:t>plug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4756"/>
            <a:ext cx="2148840" cy="139147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41bcdeb3c331d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28764"/>
            <a:ext cx="2020824" cy="12634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2920" y="2551176"/>
            <a:ext cx="2148840" cy="1391476"/>
          </a:xfrm>
          <a:prstGeom prst="roundRect">
            <a:avLst>
              <a:gd name="adj" fmla="val 14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5d42b3e81e8784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2615184"/>
            <a:ext cx="2020824" cy="1263460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2651760" y="1160494"/>
            <a:ext cx="2965472" cy="140737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589800" y="254043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900" y="1901952"/>
            <a:ext cx="24688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" y="1901952"/>
            <a:ext cx="2359152" cy="512064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The plug is </a:t>
            </a:r>
            <a:r>
              <a:rPr sz="1400" b="1">
                <a:solidFill>
                  <a:srgbClr val="2A9D8F"/>
                </a:solidFill>
                <a:latin typeface="Calibri"/>
              </a:rPr>
              <a:t>in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" y="3988372"/>
            <a:ext cx="24688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4" y="3988372"/>
            <a:ext cx="2359152" cy="512064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5A80"/>
                </a:solidFill>
                <a:latin typeface="Calibri"/>
              </a:rPr>
              <a:t>The plug is </a:t>
            </a:r>
            <a:r>
              <a:rPr sz="1400" b="1">
                <a:solidFill>
                  <a:srgbClr val="2A9D8F"/>
                </a:solidFill>
                <a:latin typeface="Calibri"/>
              </a:rPr>
              <a:t>out</a:t>
            </a:r>
            <a:r>
              <a:rPr sz="1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502920"/>
            <a:ext cx="2651760" cy="36050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8138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take a </a:t>
            </a:r>
            <a:r>
              <a:rPr sz="1500" b="1">
                <a:solidFill>
                  <a:srgbClr val="2A9D8F"/>
                </a:solidFill>
                <a:latin typeface="Calibri"/>
              </a:rPr>
              <a:t>bath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127101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I take a </a:t>
            </a:r>
            <a:r>
              <a:rPr sz="1500" b="1">
                <a:solidFill>
                  <a:srgbClr val="2A9D8F"/>
                </a:solidFill>
                <a:latin typeface="Calibri"/>
              </a:rPr>
              <a:t>shower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30" name="Picture 29" descr="2a34c65f4a91e2d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448" y="1728216"/>
            <a:ext cx="2377440" cy="133731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482328" y="31021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2328" y="31021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bath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71048" y="310210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71048" y="3102102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shower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48615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a bath or a shower?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My </a:t>
            </a:r>
            <a:r>
              <a:rPr sz="3700" b="1">
                <a:solidFill>
                  <a:srgbClr val="2A9D8F"/>
                </a:solidFill>
                <a:latin typeface="Calibri"/>
              </a:rPr>
              <a:t>lantern</a:t>
            </a:r>
            <a:r>
              <a:rPr sz="3200" b="0">
                <a:solidFill>
                  <a:srgbClr val="3D5A80"/>
                </a:solidFill>
                <a:latin typeface="Calibri"/>
              </a:rPr>
              <a:t> shows me the 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6945" y="4773168"/>
            <a:ext cx="1590972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6945" y="4773168"/>
            <a:ext cx="1590972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lan·tern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87ea32bbde95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lantern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145" y="548640"/>
            <a:ext cx="2958662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91499"/>
            <a:ext cx="2148840" cy="1389570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4714cef49d59b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55507"/>
            <a:ext cx="2020824" cy="126155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529709"/>
            <a:ext cx="2148840" cy="1432503"/>
          </a:xfrm>
          <a:prstGeom prst="roundRect">
            <a:avLst>
              <a:gd name="adj" fmla="val 14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fc227b743068c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593717"/>
            <a:ext cx="2020824" cy="1304487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1008982"/>
            <a:ext cx="2307544" cy="27730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31872" y="98155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2749478"/>
            <a:ext cx="2595322" cy="496482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219650" y="272204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124" y="2026789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" y="2026789"/>
            <a:ext cx="117043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handle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" y="400793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" y="4007932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02920"/>
            <a:ext cx="2651760" cy="4059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813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Lanterns around the world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944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7331dd1056fef5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1197864"/>
            <a:ext cx="1069848" cy="106984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596628" y="234086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6628" y="2340864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UK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3388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468fccb94c8a77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4" y="1197864"/>
            <a:ext cx="1069848" cy="10698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773918" y="2340864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73918" y="2340864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China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944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efcb4347ce70e80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024" y="2670048"/>
            <a:ext cx="1069848" cy="106984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422892" y="3813048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22892" y="3813048"/>
            <a:ext cx="896112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Thailand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3388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e00654c1392f29c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0464" y="2670048"/>
            <a:ext cx="1069848" cy="106984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0831068" y="3813048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31068" y="3813048"/>
            <a:ext cx="5486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USA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1605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Where is this lantern from?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The </a:t>
            </a:r>
            <a:r>
              <a:rPr sz="3700" b="1">
                <a:solidFill>
                  <a:srgbClr val="2A9D8F"/>
                </a:solidFill>
                <a:latin typeface="Calibri"/>
              </a:rPr>
              <a:t>washing machine</a:t>
            </a:r>
            <a:r>
              <a:rPr sz="3200" b="0">
                <a:solidFill>
                  <a:srgbClr val="3D5A80"/>
                </a:solidFill>
                <a:latin typeface="Calibri"/>
              </a:rPr>
              <a:t> washes my clothes.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25165" y="4773168"/>
            <a:ext cx="3563262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25165" y="4773168"/>
            <a:ext cx="3563262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wash·ing ma·chine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c6782ed27b2ab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washing-machine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295" y="548640"/>
            <a:ext cx="3832361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885274"/>
            <a:ext cx="2148840" cy="552028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995107e4d08e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49282"/>
            <a:ext cx="2020824" cy="4240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0902" y="1985942"/>
            <a:ext cx="2012875" cy="1682496"/>
          </a:xfrm>
          <a:prstGeom prst="roundRect">
            <a:avLst>
              <a:gd name="adj" fmla="val 14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365bdb096240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910" y="2049950"/>
            <a:ext cx="1884859" cy="155448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651760" y="973204"/>
            <a:ext cx="2267384" cy="18808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91712" y="945772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583777" y="2390182"/>
            <a:ext cx="2336488" cy="437008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92833" y="2362750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1483022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483022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buttons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699" y="371415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3714158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02920"/>
            <a:ext cx="2651760" cy="27454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8e473c12488d59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813816"/>
            <a:ext cx="2377440" cy="13373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3728" y="224256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8A1A"/>
                </a:solidFill>
                <a:latin typeface="Calibri"/>
              </a:rPr>
              <a:t>dirty</a:t>
            </a:r>
            <a:r>
              <a:rPr sz="1200" b="0">
                <a:solidFill>
                  <a:srgbClr val="6B7A8A"/>
                </a:solidFill>
                <a:latin typeface="Calibri"/>
              </a:rPr>
              <a:t>  →  </a:t>
            </a:r>
            <a:r>
              <a:rPr sz="1200" b="1">
                <a:solidFill>
                  <a:srgbClr val="E0765A"/>
                </a:solidFill>
                <a:latin typeface="Calibri"/>
              </a:rPr>
              <a:t>wash</a:t>
            </a:r>
            <a:r>
              <a:rPr sz="1200" b="0">
                <a:solidFill>
                  <a:srgbClr val="6B7A8A"/>
                </a:solidFill>
                <a:latin typeface="Calibri"/>
              </a:rPr>
              <a:t>  →  </a:t>
            </a:r>
            <a:r>
              <a:rPr sz="1200" b="1">
                <a:solidFill>
                  <a:srgbClr val="2F80ED"/>
                </a:solidFill>
                <a:latin typeface="Calibri"/>
              </a:rPr>
              <a:t>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62661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Are your clothes dirty or clean?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Mum makes tea in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teapot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8634" y="4773168"/>
            <a:ext cx="1476236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98634" y="4773168"/>
            <a:ext cx="1476236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tea·pot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ec6bc99d86f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teapot-v3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704" y="548640"/>
            <a:ext cx="4661544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5310" y="528923"/>
            <a:ext cx="1724059" cy="1682496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bbe87dc72b876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18" y="592931"/>
            <a:ext cx="1596043" cy="1554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760059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66666748e595c1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824067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2439369" y="1370171"/>
            <a:ext cx="1560406" cy="350324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972343" y="169306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8699" y="2257139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257139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07050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7050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tea bag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02920"/>
            <a:ext cx="265176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2ad7d29a8b072c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813816"/>
            <a:ext cx="2377440" cy="133731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953245" y="2187702"/>
            <a:ext cx="59435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3245" y="2187702"/>
            <a:ext cx="594359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teapot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63606" y="2187702"/>
            <a:ext cx="8001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3606" y="2187702"/>
            <a:ext cx="80010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5A80"/>
                </a:solidFill>
                <a:latin typeface="Calibri"/>
              </a:rPr>
              <a:t>hot water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5228" y="2571750"/>
            <a:ext cx="1325880" cy="994410"/>
          </a:xfrm>
          <a:prstGeom prst="roundRect">
            <a:avLst>
              <a:gd name="adj" fmla="val 12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5b17b57c7a9582c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1804" y="2608326"/>
            <a:ext cx="1252728" cy="9212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08592" y="3639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like tea?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39227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take sugar?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6BB0"/>
                </a:solidFill>
                <a:latin typeface="Calibri"/>
              </a:rPr>
              <a:t>Do you take milk?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boil water in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kettle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93556" y="4773168"/>
            <a:ext cx="1289268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93556" y="4773168"/>
            <a:ext cx="1289268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ket·tle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e93412db4160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kettle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959" y="548640"/>
            <a:ext cx="4339033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8376" y="360768"/>
            <a:ext cx="1797927" cy="1682496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f26a2bfdd1f17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84" y="424776"/>
            <a:ext cx="1669911" cy="1554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591904"/>
            <a:ext cx="2148840" cy="1601039"/>
          </a:xfrm>
          <a:prstGeom prst="roundRect">
            <a:avLst>
              <a:gd name="adj" fmla="val 14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df361f2360d2b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655912"/>
            <a:ext cx="2020824" cy="147302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2476303" y="1055885"/>
            <a:ext cx="1688960" cy="146131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37831" y="1028453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8699" y="208898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088984"/>
            <a:ext cx="1097280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238663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238663"/>
            <a:ext cx="1764792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cold to 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02920"/>
            <a:ext cx="2651760" cy="33488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8138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water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cold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116128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E8C3C"/>
                </a:solidFill>
                <a:latin typeface="Calibri"/>
              </a:rPr>
              <a:t>↓  2 minutes 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5270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The water is </a:t>
            </a:r>
            <a:r>
              <a:rPr sz="1500" b="1">
                <a:solidFill>
                  <a:srgbClr val="2A9D8F"/>
                </a:solidFill>
                <a:latin typeface="Calibri"/>
              </a:rPr>
              <a:t>hot</a:t>
            </a:r>
            <a:r>
              <a:rPr sz="13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pic>
        <p:nvPicPr>
          <p:cNvPr id="27" name="Picture 26" descr="b2a8f8d7954593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1911096"/>
            <a:ext cx="2377440" cy="106285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482328" y="3010527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82328" y="3010527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cold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1048" y="3010527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1048" y="3010527"/>
            <a:ext cx="822960" cy="25603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339457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Careful!</a:t>
            </a:r>
            <a:r>
              <a:rPr sz="1300" b="0">
                <a:solidFill>
                  <a:srgbClr val="3D5A80"/>
                </a:solidFill>
                <a:latin typeface="Calibri"/>
              </a:rPr>
              <a:t> Do not touch.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029200"/>
            <a:ext cx="1072865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D5A80"/>
                </a:solidFill>
                <a:latin typeface="Calibri"/>
              </a:rPr>
              <a:t>I play the </a:t>
            </a:r>
            <a:r>
              <a:rPr sz="3700" b="1">
                <a:solidFill>
                  <a:srgbClr val="2A9D8F"/>
                </a:solidFill>
                <a:latin typeface="Calibri"/>
              </a:rPr>
              <a:t>guitar</a:t>
            </a:r>
            <a:r>
              <a:rPr sz="3200" b="0">
                <a:solidFill>
                  <a:srgbClr val="3D5A8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3140" y="4773168"/>
            <a:ext cx="1330563" cy="310896"/>
          </a:xfrm>
          <a:prstGeom prst="roundRect">
            <a:avLst>
              <a:gd name="adj" fmla="val 45000"/>
            </a:avLst>
          </a:prstGeom>
          <a:solidFill>
            <a:srgbClr val="FFF4D6"/>
          </a:solidFill>
          <a:ln w="15875">
            <a:solidFill>
              <a:srgbClr val="F2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83140" y="4773168"/>
            <a:ext cx="1330563" cy="31089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765A"/>
                </a:solidFill>
                <a:latin typeface="Calibri"/>
              </a:rPr>
              <a:t>gui·tar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56032"/>
            <a:ext cx="5696712" cy="443484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411480"/>
            <a:ext cx="5385816" cy="4123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687d9335c0cd88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411480"/>
            <a:ext cx="5385816" cy="4123944"/>
          </a:xfrm>
          <a:prstGeom prst="rect">
            <a:avLst/>
          </a:prstGeom>
        </p:spPr>
      </p:pic>
      <p:pic>
        <p:nvPicPr>
          <p:cNvPr id="11" name="Picture 10" descr="main-guitar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24" y="548640"/>
            <a:ext cx="2750504" cy="38496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96003" y="528923"/>
            <a:ext cx="1362674" cy="1682496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74e35e4712372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11" y="592931"/>
            <a:ext cx="1234658" cy="1554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760059"/>
            <a:ext cx="2148840" cy="1264729"/>
          </a:xfrm>
          <a:prstGeom prst="roundRect">
            <a:avLst>
              <a:gd name="adj" fmla="val 14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b57ef848b74ee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824067"/>
            <a:ext cx="2020824" cy="1136713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2258677" y="1370171"/>
            <a:ext cx="3303113" cy="140725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34358" y="2749996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392423"/>
            <a:ext cx="4081618" cy="40187"/>
          </a:xfrm>
          <a:prstGeom prst="line">
            <a:avLst/>
          </a:prstGeom>
          <a:ln w="19050">
            <a:solidFill>
              <a:srgbClr val="8A9B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705946" y="3405178"/>
            <a:ext cx="54864" cy="54864"/>
          </a:xfrm>
          <a:prstGeom prst="ellipse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2257139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257139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strings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4070508"/>
            <a:ext cx="1289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70508"/>
            <a:ext cx="1289304" cy="310896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5A80"/>
                </a:solidFill>
                <a:latin typeface="Calibri"/>
              </a:rPr>
              <a:t>speaker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02920"/>
            <a:ext cx="2651760" cy="3730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649224"/>
            <a:ext cx="438912" cy="640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8138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D5A80"/>
                </a:solidFill>
                <a:latin typeface="Calibri"/>
              </a:rPr>
              <a:t>Musical instruments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944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9d5e2e15808437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1197864"/>
            <a:ext cx="1069848" cy="106984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578340" y="2340864"/>
            <a:ext cx="58521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78340" y="2340864"/>
            <a:ext cx="585216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drum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33888" y="1161288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662ee31e7d19128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4" y="1197864"/>
            <a:ext cx="1069848" cy="106984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773918" y="2340864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73918" y="2340864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piano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944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112b998697789cf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024" y="2670048"/>
            <a:ext cx="1069848" cy="106984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500616" y="3813048"/>
            <a:ext cx="7406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0616" y="3813048"/>
            <a:ext cx="740664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violin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33888" y="2633472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6721f7a419c9132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0464" y="2670048"/>
            <a:ext cx="1069848" cy="106984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0773918" y="381304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73918" y="3813048"/>
            <a:ext cx="662940" cy="237744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5A80"/>
                </a:solidFill>
                <a:latin typeface="Calibri"/>
              </a:rPr>
              <a:t>flute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1 · Circle &amp;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460175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A9D8F"/>
                </a:solidFill>
                <a:latin typeface="Calibri"/>
              </a:rPr>
              <a:t>Read the sentence. Draw a line to the right word. Then circle the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1.  I drink water from my ______.</a:t>
            </a:r>
          </a:p>
        </p:txBody>
      </p:sp>
      <p:sp>
        <p:nvSpPr>
          <p:cNvPr id="8" name="Oval 7"/>
          <p:cNvSpPr/>
          <p:nvPr/>
        </p:nvSpPr>
        <p:spPr>
          <a:xfrm>
            <a:off x="589788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43800" y="241401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n-sofa_1.000_0.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2231136"/>
            <a:ext cx="566928" cy="5669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09560" y="2286000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340864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sofa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44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2.  We sit on the ______.</a:t>
            </a:r>
          </a:p>
        </p:txBody>
      </p:sp>
      <p:sp>
        <p:nvSpPr>
          <p:cNvPr id="14" name="Oval 13"/>
          <p:cNvSpPr/>
          <p:nvPr/>
        </p:nvSpPr>
        <p:spPr>
          <a:xfrm>
            <a:off x="589788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3072384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in-lantern_1.000_0.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889504"/>
            <a:ext cx="566928" cy="5669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909560" y="2944368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999232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lantern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0273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3.  I put rubbish in the ______.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43800" y="3730752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in-heater_1.000_0.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3547872"/>
            <a:ext cx="566928" cy="56692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909560" y="3602736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heater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611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4.  I do my homework at my ______.</a:t>
            </a:r>
          </a:p>
        </p:txBody>
      </p:sp>
      <p:sp>
        <p:nvSpPr>
          <p:cNvPr id="26" name="Oval 25"/>
          <p:cNvSpPr/>
          <p:nvPr/>
        </p:nvSpPr>
        <p:spPr>
          <a:xfrm>
            <a:off x="589788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43800" y="4389120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in-bottle_1.000_0.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4206240"/>
            <a:ext cx="566928" cy="56692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909560" y="4261104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315968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bottle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194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5.  My ______ shows me the way.</a:t>
            </a:r>
          </a:p>
        </p:txBody>
      </p:sp>
      <p:sp>
        <p:nvSpPr>
          <p:cNvPr id="32" name="Oval 31"/>
          <p:cNvSpPr/>
          <p:nvPr/>
        </p:nvSpPr>
        <p:spPr>
          <a:xfrm>
            <a:off x="589788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3800" y="5047488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on-de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5832" y="4864608"/>
            <a:ext cx="566928" cy="56692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909560" y="4919472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4974336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desk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D5A80"/>
                </a:solidFill>
                <a:latin typeface="Calibri"/>
              </a:rPr>
              <a:t>6.  The ______ keeps me warm.</a:t>
            </a:r>
          </a:p>
        </p:txBody>
      </p:sp>
      <p:sp>
        <p:nvSpPr>
          <p:cNvPr id="38" name="Oval 37"/>
          <p:cNvSpPr/>
          <p:nvPr/>
        </p:nvSpPr>
        <p:spPr>
          <a:xfrm>
            <a:off x="589788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43800" y="5705856"/>
            <a:ext cx="182880" cy="18288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ain-bin_1.000_0.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2" y="5522976"/>
            <a:ext cx="566928" cy="56692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7909560" y="5577840"/>
            <a:ext cx="2084832" cy="457200"/>
          </a:xfrm>
          <a:prstGeom prst="roundRect">
            <a:avLst>
              <a:gd name="adj" fmla="val 45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5632704"/>
            <a:ext cx="2084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bin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Everyday Objects 3 · Worksheet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926080" y="502920"/>
            <a:ext cx="6339535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594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Worksheet 2 · Find and Circle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" y="1517904"/>
            <a:ext cx="7831328" cy="4453128"/>
          </a:xfrm>
          <a:prstGeom prst="roundRect">
            <a:avLst>
              <a:gd name="adj" fmla="val 6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dddb420659f1b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72768"/>
            <a:ext cx="772160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15960" y="1517904"/>
            <a:ext cx="3555695" cy="4453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3120" y="1645920"/>
            <a:ext cx="3281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Find it! Point to it. Circle it.</a:t>
            </a:r>
          </a:p>
        </p:txBody>
      </p:sp>
      <p:sp>
        <p:nvSpPr>
          <p:cNvPr id="9" name="Oval 8"/>
          <p:cNvSpPr/>
          <p:nvPr/>
        </p:nvSpPr>
        <p:spPr>
          <a:xfrm>
            <a:off x="8471408" y="2103120"/>
            <a:ext cx="164592" cy="16459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0008" y="202996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drink from.</a:t>
            </a:r>
          </a:p>
        </p:txBody>
      </p:sp>
      <p:sp>
        <p:nvSpPr>
          <p:cNvPr id="11" name="Oval 10"/>
          <p:cNvSpPr/>
          <p:nvPr/>
        </p:nvSpPr>
        <p:spPr>
          <a:xfrm>
            <a:off x="8471408" y="2519680"/>
            <a:ext cx="164592" cy="16459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0008" y="244652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listen with.</a:t>
            </a:r>
          </a:p>
        </p:txBody>
      </p:sp>
      <p:sp>
        <p:nvSpPr>
          <p:cNvPr id="13" name="Oval 12"/>
          <p:cNvSpPr/>
          <p:nvPr/>
        </p:nvSpPr>
        <p:spPr>
          <a:xfrm>
            <a:off x="8471408" y="2936240"/>
            <a:ext cx="164592" cy="16459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0008" y="286308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sit on.</a:t>
            </a:r>
          </a:p>
        </p:txBody>
      </p:sp>
      <p:sp>
        <p:nvSpPr>
          <p:cNvPr id="15" name="Oval 14"/>
          <p:cNvSpPr/>
          <p:nvPr/>
        </p:nvSpPr>
        <p:spPr>
          <a:xfrm>
            <a:off x="8471408" y="3352800"/>
            <a:ext cx="164592" cy="16459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0008" y="327964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keeps you cool.</a:t>
            </a:r>
          </a:p>
        </p:txBody>
      </p:sp>
      <p:sp>
        <p:nvSpPr>
          <p:cNvPr id="17" name="Oval 16"/>
          <p:cNvSpPr/>
          <p:nvPr/>
        </p:nvSpPr>
        <p:spPr>
          <a:xfrm>
            <a:off x="8471408" y="3769360"/>
            <a:ext cx="164592" cy="164592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0008" y="369620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type on.</a:t>
            </a:r>
          </a:p>
        </p:txBody>
      </p:sp>
      <p:sp>
        <p:nvSpPr>
          <p:cNvPr id="19" name="Oval 18"/>
          <p:cNvSpPr/>
          <p:nvPr/>
        </p:nvSpPr>
        <p:spPr>
          <a:xfrm>
            <a:off x="8471408" y="4185920"/>
            <a:ext cx="164592" cy="164592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0008" y="411276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put rubbish in.</a:t>
            </a:r>
          </a:p>
        </p:txBody>
      </p:sp>
      <p:sp>
        <p:nvSpPr>
          <p:cNvPr id="21" name="Oval 20"/>
          <p:cNvSpPr/>
          <p:nvPr/>
        </p:nvSpPr>
        <p:spPr>
          <a:xfrm>
            <a:off x="8471408" y="4602480"/>
            <a:ext cx="164592" cy="16459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0008" y="452932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you paint with.</a:t>
            </a:r>
          </a:p>
        </p:txBody>
      </p:sp>
      <p:sp>
        <p:nvSpPr>
          <p:cNvPr id="23" name="Oval 22"/>
          <p:cNvSpPr/>
          <p:nvPr/>
        </p:nvSpPr>
        <p:spPr>
          <a:xfrm>
            <a:off x="8471408" y="5019040"/>
            <a:ext cx="164592" cy="16459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0008" y="494588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that boils water.</a:t>
            </a:r>
          </a:p>
        </p:txBody>
      </p:sp>
      <p:sp>
        <p:nvSpPr>
          <p:cNvPr id="25" name="Oval 24"/>
          <p:cNvSpPr/>
          <p:nvPr/>
        </p:nvSpPr>
        <p:spPr>
          <a:xfrm>
            <a:off x="8471408" y="5435600"/>
            <a:ext cx="164592" cy="16459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0008" y="5362448"/>
            <a:ext cx="309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5A80"/>
                </a:solidFill>
                <a:latin typeface="Calibri"/>
              </a:rPr>
              <a:t>Point to something with six strings.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A8A"/>
                </a:solidFill>
                <a:latin typeface="Calibri"/>
              </a:rPr>
              <a:t>Everyday Objects 3 · Worksheet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8cd08e7ace617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58a993bf59c4cb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turn on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turn off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459071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348575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33391" y="4510278"/>
            <a:ext cx="2724912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07711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fan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690" y="4638294"/>
            <a:ext cx="735001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30671" y="4620006"/>
            <a:ext cx="1490472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1 /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c05d084d6d8e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c560891cc6f794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fill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empty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102455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705191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6775" y="4510278"/>
            <a:ext cx="3438144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1095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bottle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337" y="4638294"/>
            <a:ext cx="734476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4055" y="4620006"/>
            <a:ext cx="2203704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bottle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2 /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072fe8afa8a4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7ac46918430b6a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I put clothes in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D5A80"/>
                </a:solidFill>
                <a:latin typeface="Calibri"/>
              </a:rPr>
              <a:t>I take clothes out of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337550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43213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9827" y="4510278"/>
            <a:ext cx="4892040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24147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washing-machine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18" y="4638294"/>
            <a:ext cx="734618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47107" y="4620006"/>
            <a:ext cx="3657600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washing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3 /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4c734a93d5a04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b11d077719a39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open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close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102455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705191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6775" y="4510278"/>
            <a:ext cx="3438144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1095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laptop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071" y="4638294"/>
            <a:ext cx="735007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74055" y="4620006"/>
            <a:ext cx="2203704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4 /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c143458919abf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c48c0f8d1a2155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I sit down on 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D5A80"/>
                </a:solidFill>
                <a:latin typeface="Calibri"/>
              </a:rPr>
              <a:t>I stand up from the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34019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46744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4519" y="4510278"/>
            <a:ext cx="2962656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88839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n-sofa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382" y="4638294"/>
            <a:ext cx="735873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1799" y="4620006"/>
            <a:ext cx="172821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sofa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5 /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2871" y="850392"/>
            <a:ext cx="11045952" cy="4245102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d51d3c374c42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" y="932688"/>
            <a:ext cx="5440680" cy="4080510"/>
          </a:xfrm>
          <a:prstGeom prst="rect">
            <a:avLst/>
          </a:prstGeom>
        </p:spPr>
      </p:pic>
      <p:pic>
        <p:nvPicPr>
          <p:cNvPr id="5" name="Picture 4" descr="feee6367107ffd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932688"/>
            <a:ext cx="544068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2131" y="932688"/>
            <a:ext cx="27432" cy="4080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380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0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pull out 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4487" y="182880"/>
            <a:ext cx="434340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7744"/>
            <a:ext cx="43434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I push in my</a:t>
            </a:r>
          </a:p>
        </p:txBody>
      </p:sp>
      <p:sp>
        <p:nvSpPr>
          <p:cNvPr id="11" name="Chevron 10"/>
          <p:cNvSpPr/>
          <p:nvPr/>
        </p:nvSpPr>
        <p:spPr>
          <a:xfrm rot="10800000">
            <a:off x="4221327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586319" y="4711446"/>
            <a:ext cx="384048" cy="475488"/>
          </a:xfrm>
          <a:prstGeom prst="chevron">
            <a:avLst/>
          </a:prstGeom>
          <a:solidFill>
            <a:srgbClr val="E0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5647" y="4510278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69967" y="4620006"/>
            <a:ext cx="822960" cy="6492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hair_1.200_0.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211" y="4638294"/>
            <a:ext cx="734471" cy="612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92927" y="4620006"/>
            <a:ext cx="1965960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chair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A8A"/>
                </a:solidFill>
                <a:latin typeface="Calibri"/>
              </a:rPr>
              <a:t>Everyday Objects 3  ·  Action Pairs 6 /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34095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1965960"/>
            <a:ext cx="256032" cy="256032"/>
          </a:xfrm>
          <a:prstGeom prst="ellipse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06240" y="1965960"/>
            <a:ext cx="256032" cy="256032"/>
          </a:xfrm>
          <a:prstGeom prst="ellipse">
            <a:avLst/>
          </a:prstGeom>
          <a:solidFill>
            <a:srgbClr val="FFD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80" y="1965960"/>
            <a:ext cx="256032" cy="256032"/>
          </a:xfrm>
          <a:prstGeom prst="ellipse">
            <a:avLst/>
          </a:prstGeom>
          <a:solidFill>
            <a:srgbClr val="C9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0" y="1965960"/>
            <a:ext cx="256032" cy="256032"/>
          </a:xfrm>
          <a:prstGeom prst="ellipse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0" y="1965960"/>
            <a:ext cx="256032" cy="256032"/>
          </a:xfrm>
          <a:prstGeom prst="ellipse">
            <a:avLst/>
          </a:prstGeom>
          <a:solidFill>
            <a:srgbClr val="FFB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1965960"/>
            <a:ext cx="256032" cy="256032"/>
          </a:xfrm>
          <a:prstGeom prst="ellipse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468880"/>
            <a:ext cx="79854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D5A80"/>
                </a:solidFill>
                <a:latin typeface="Calibri"/>
              </a:rPr>
              <a:t>Thank you for learning with Everyday Objects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46120"/>
            <a:ext cx="7985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A9D8F"/>
                </a:solidFill>
                <a:latin typeface="Calibri"/>
              </a:rPr>
              <a:t>For one classroom or one home.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931920"/>
            <a:ext cx="7985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B6BB0"/>
                </a:solidFill>
                <a:latin typeface="Calibri"/>
              </a:rPr>
              <a:t>Everyday Objects 3 · Sentence Flashcards · Beginner ESL</a:t>
            </a:r>
          </a:p>
        </p:txBody>
      </p:sp>
      <p:pic>
        <p:nvPicPr>
          <p:cNvPr id="13" name="Picture 12" descr="little-wonders-stamp-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96712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